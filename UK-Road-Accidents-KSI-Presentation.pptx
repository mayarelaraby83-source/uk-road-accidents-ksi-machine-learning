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6" r:id="rId3"/>
    <p:sldId id="256" r:id="rId5"/>
    <p:sldId id="275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8" r:id="rId21"/>
    <p:sldId id="271" r:id="rId22"/>
    <p:sldId id="272" r:id="rId23"/>
    <p:sldId id="273" r:id="rId24"/>
    <p:sldId id="274" r:id="rId2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762B"/>
    <a:srgbClr val="193EB0"/>
    <a:srgbClr val="0EA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KSI Rate by Speed Limit (%)</c:v>
                </c:pt>
              </c:strCache>
            </c:strRef>
          </c:tx>
          <c:spPr>
            <a:ln w="19050" cap="rnd" cmpd="sng" algn="ctr">
              <a:noFill/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EA394"/>
              </a:solidFill>
              <a:ln w="9525" cap="flat" cmpd="sng" algn="ctr">
                <a:solidFill>
                  <a:srgbClr val="0EA394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numRef>
              <c:f>Sheet1!$A$2:$A$7</c:f>
              <c:numCache>
                <c:formatCode>General</c:formatCode>
                <c:ptCount val="6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16.73</c:v>
                </c:pt>
                <c:pt idx="1">
                  <c:v>18.47</c:v>
                </c:pt>
                <c:pt idx="2">
                  <c:v>22.21</c:v>
                </c:pt>
                <c:pt idx="3">
                  <c:v>22.88</c:v>
                </c:pt>
                <c:pt idx="4">
                  <c:v>29.19</c:v>
                </c:pt>
                <c:pt idx="5">
                  <c:v>19.87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5B6478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lang="en-US" b="0" i="0" u="none" strike="noStrike">
                    <a:solidFill>
                      <a:srgbClr val="5B6478"/>
                    </a:solidFill>
                    <a:latin typeface="Arial" panose="020B0604020202020204"/>
                  </a:rPr>
                  <a:t>Speed Limit (mph)</a:t>
                </a:r>
                <a:endParaRPr lang="en-US" b="0" i="0" u="none" strike="noStrike">
                  <a:solidFill>
                    <a:srgbClr val="5B6478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1E5EC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5B6478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lang="en-US" b="0" i="0" u="none" strike="noStrike">
                    <a:solidFill>
                      <a:srgbClr val="5B6478"/>
                    </a:solidFill>
                    <a:latin typeface="Arial" panose="020B0604020202020204"/>
                  </a:rPr>
                  <a:t>KSI Rate (%)</a:t>
                </a:r>
                <a:endParaRPr lang="en-US" b="0" i="0" u="none" strike="noStrike">
                  <a:solidFill>
                    <a:srgbClr val="5B6478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rgbClr val="5B6478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1"/>
    <c:extLst>
      <c:ext uri="{0b15fc19-7d7d-44ad-8c2d-2c3a37ce22c3}">
        <chartProps xmlns="https://web.wps.cn/et/2018/main" chartId="{b76cb646-84c8-4b04-9a14-b7920245484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KSI Rate by Hour (%)</c:v>
                </c:pt>
              </c:strCache>
            </c:strRef>
          </c:tx>
          <c:spPr>
            <a:ln w="38100" cap="flat" cmpd="sng" algn="ctr">
              <a:solidFill>
                <a:srgbClr val="E2762B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E2762B"/>
              </a:solidFill>
              <a:ln w="9525" cap="flat" cmpd="sng" algn="ctr">
                <a:solidFill>
                  <a:srgbClr val="E2762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8233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26.16</c:v>
                </c:pt>
                <c:pt idx="1">
                  <c:v>26.32</c:v>
                </c:pt>
                <c:pt idx="2">
                  <c:v>28.87</c:v>
                </c:pt>
                <c:pt idx="3">
                  <c:v>28.42</c:v>
                </c:pt>
                <c:pt idx="4">
                  <c:v>26.44</c:v>
                </c:pt>
                <c:pt idx="5">
                  <c:v>22.95</c:v>
                </c:pt>
                <c:pt idx="6">
                  <c:v>22.88</c:v>
                </c:pt>
                <c:pt idx="7">
                  <c:v>20.16</c:v>
                </c:pt>
                <c:pt idx="8">
                  <c:v>15.37</c:v>
                </c:pt>
                <c:pt idx="9">
                  <c:v>17.99</c:v>
                </c:pt>
                <c:pt idx="10">
                  <c:v>18.62</c:v>
                </c:pt>
                <c:pt idx="11">
                  <c:v>19.5</c:v>
                </c:pt>
                <c:pt idx="12">
                  <c:v>19.41</c:v>
                </c:pt>
                <c:pt idx="13">
                  <c:v>19.24</c:v>
                </c:pt>
                <c:pt idx="14">
                  <c:v>19.97</c:v>
                </c:pt>
                <c:pt idx="15">
                  <c:v>19.96</c:v>
                </c:pt>
                <c:pt idx="16">
                  <c:v>20.09</c:v>
                </c:pt>
                <c:pt idx="17">
                  <c:v>19.36</c:v>
                </c:pt>
                <c:pt idx="18">
                  <c:v>19.59</c:v>
                </c:pt>
                <c:pt idx="19">
                  <c:v>22.22</c:v>
                </c:pt>
                <c:pt idx="20">
                  <c:v>21.73</c:v>
                </c:pt>
                <c:pt idx="21">
                  <c:v>22.54</c:v>
                </c:pt>
                <c:pt idx="22">
                  <c:v>24.05</c:v>
                </c:pt>
                <c:pt idx="23">
                  <c:v>25.51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 cmpd="sng" algn="ctr">
              <a:solidFill>
                <a:srgbClr val="E1E5EC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5B6478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lang="en-US" b="0" i="0" u="none" strike="noStrike">
                    <a:solidFill>
                      <a:srgbClr val="5B6478"/>
                    </a:solidFill>
                    <a:latin typeface="Arial" panose="020B0604020202020204"/>
                  </a:rPr>
                  <a:t>KSI Rate (%)</a:t>
                </a:r>
                <a:endParaRPr lang="en-US" b="0" i="0" u="none" strike="noStrike">
                  <a:solidFill>
                    <a:srgbClr val="5B6478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b59a4a93-90e1-4949-a38c-14bc61fb3ea8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Importance (%)</c:v>
                </c:pt>
              </c:strCache>
            </c:strRef>
          </c:tx>
          <c:spPr>
            <a:solidFill>
              <a:srgbClr val="193EB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93E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93EB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93EB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93EB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93EB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93EB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93EB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93EB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93EB0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93EB0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193EB0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193EB0"/>
              </a:solidFill>
              <a:effectLst/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50" b="0" i="0" u="none" strike="noStrike" kern="1200" baseline="0">
                    <a:solidFill>
                      <a:srgbClr val="5B6478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Vehicle Count</c:v>
                </c:pt>
                <c:pt idx="1">
                  <c:v>Local Authority</c:v>
                </c:pt>
                <c:pt idx="2">
                  <c:v>Urban/Rural Area</c:v>
                </c:pt>
                <c:pt idx="3">
                  <c:v>Male Drivers</c:v>
                </c:pt>
                <c:pt idx="4">
                  <c:v>Vehicle-Age Missing</c:v>
                </c:pt>
                <c:pt idx="5">
                  <c:v>Engine-CC Missing</c:v>
                </c:pt>
                <c:pt idx="6">
                  <c:v>No. Casualties</c:v>
                </c:pt>
                <c:pt idx="7">
                  <c:v>Road Type</c:v>
                </c:pt>
                <c:pt idx="8">
                  <c:v>Light Conditions</c:v>
                </c:pt>
                <c:pt idx="9">
                  <c:v>Speed Limit</c:v>
                </c:pt>
                <c:pt idx="10">
                  <c:v>Is Weekend</c:v>
                </c:pt>
                <c:pt idx="11">
                  <c:v>Driver-Age Missing</c:v>
                </c:pt>
                <c:pt idx="12">
                  <c:v>Road Surface</c:v>
                </c:pt>
                <c:pt idx="13">
                  <c:v>Engine CC</c:v>
                </c:pt>
                <c:pt idx="14">
                  <c:v>Driver Age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7.6</c:v>
                </c:pt>
                <c:pt idx="1">
                  <c:v>5.6</c:v>
                </c:pt>
                <c:pt idx="2">
                  <c:v>5</c:v>
                </c:pt>
                <c:pt idx="3">
                  <c:v>4.1</c:v>
                </c:pt>
                <c:pt idx="4">
                  <c:v>3.9</c:v>
                </c:pt>
                <c:pt idx="5">
                  <c:v>3.6</c:v>
                </c:pt>
                <c:pt idx="6">
                  <c:v>3.1</c:v>
                </c:pt>
                <c:pt idx="7">
                  <c:v>2.6</c:v>
                </c:pt>
                <c:pt idx="8">
                  <c:v>2.1</c:v>
                </c:pt>
                <c:pt idx="9">
                  <c:v>2</c:v>
                </c:pt>
                <c:pt idx="10">
                  <c:v>1.9</c:v>
                </c:pt>
                <c:pt idx="11">
                  <c:v>1.9</c:v>
                </c:pt>
                <c:pt idx="12">
                  <c:v>1.8</c:v>
                </c:pt>
                <c:pt idx="13">
                  <c:v>1.7</c:v>
                </c:pt>
                <c:pt idx="14">
                  <c:v>1.6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rgbClr val="18233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75d775fa-5794-4952-bf7c-afb8b6a9963e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Daylight</c:v>
                </c:pt>
                <c:pt idx="1">
                  <c:v>Lit Darkness</c:v>
                </c:pt>
                <c:pt idx="2">
                  <c:v>Unlit Darkness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KSI Rate (%)</c:v>
                </c:pt>
              </c:strCache>
            </c:strRef>
          </c:tx>
          <c:spPr>
            <a:solidFill>
              <a:srgbClr val="002060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Daylight</c:v>
                </c:pt>
                <c:pt idx="1">
                  <c:v>Lit Darkness</c:v>
                </c:pt>
                <c:pt idx="2">
                  <c:v>Unlit Darkness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19.3</c:v>
                </c:pt>
                <c:pt idx="1">
                  <c:v>21.2</c:v>
                </c:pt>
                <c:pt idx="2">
                  <c:v>31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8233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1E5EC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5B6478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lang="en-US" b="0" i="0" u="none" strike="noStrike">
                    <a:solidFill>
                      <a:srgbClr val="5B6478"/>
                    </a:solidFill>
                    <a:latin typeface="Arial" panose="020B0604020202020204"/>
                  </a:rPr>
                  <a:t>KSI Rate (%)</a:t>
                </a:r>
                <a:endParaRPr lang="en-US" b="0" i="0" u="none" strike="noStrike">
                  <a:solidFill>
                    <a:srgbClr val="5B6478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0.0&quot;%&quot;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ef78627b-d97b-4503-b629-41fee7d5a7e3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KSI Rate (%)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6"/>
              </a:outerShdw>
            </a:effectLst>
          </c:spPr>
          <c:marker>
            <c:symbol val="none"/>
          </c:marker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95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Fine</c:v>
                </c:pt>
                <c:pt idx="1">
                  <c:v>Raining</c:v>
                </c:pt>
                <c:pt idx="2">
                  <c:v>Snowing</c:v>
                </c:pt>
                <c:pt idx="3">
                  <c:v>Fine+Wind</c:v>
                </c:pt>
                <c:pt idx="4">
                  <c:v>Raining+Wind</c:v>
                </c:pt>
                <c:pt idx="5">
                  <c:v>Snowing+Wind</c:v>
                </c:pt>
                <c:pt idx="6">
                  <c:v>Fog/Mist</c:v>
                </c:pt>
                <c:pt idx="7">
                  <c:v>Other</c:v>
                </c:pt>
                <c:pt idx="8">
                  <c:v>Unknown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20.75</c:v>
                </c:pt>
                <c:pt idx="1">
                  <c:v>19.24</c:v>
                </c:pt>
                <c:pt idx="2">
                  <c:v>15.81</c:v>
                </c:pt>
                <c:pt idx="3">
                  <c:v>22.59</c:v>
                </c:pt>
                <c:pt idx="4">
                  <c:v>22.63</c:v>
                </c:pt>
                <c:pt idx="5">
                  <c:v>16.42</c:v>
                </c:pt>
                <c:pt idx="6">
                  <c:v>26.12</c:v>
                </c:pt>
                <c:pt idx="7">
                  <c:v>15.56</c:v>
                </c:pt>
                <c:pt idx="8">
                  <c:v>13.13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marker val="0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0.0&quot;%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02060"/>
        </a:solidFill>
        <a:ln>
          <a:solidFill>
            <a:srgbClr val="002060"/>
          </a:solidFill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c4a7d4db-1a26-4f2b-8490-13a77c475e63}"/>
      </c:ext>
    </c:extLst>
  </c:chart>
  <c:spPr>
    <a:solidFill>
      <a:srgbClr val="002060"/>
    </a:solidFill>
    <a:ln w="9525" cap="flat" cmpd="sng" algn="ctr">
      <a:solidFill>
        <a:schemeClr val="accent6"/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Accidents (%)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5B6478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Urban</c:v>
                </c:pt>
                <c:pt idx="1">
                  <c:v>Rural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67.4</c:v>
                </c:pt>
                <c:pt idx="1">
                  <c:v>32.6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8233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10002488-a629-42bd-82f4-b93972a47034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Accidents (%)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AEB9D6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Urban</c:v>
                </c:pt>
                <c:pt idx="1">
                  <c:v>Rural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67.4</c:v>
                </c:pt>
                <c:pt idx="1">
                  <c:v>32.6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AEB9D6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9f956ba0-0199-4e80-8b6d-c84f3b37abd9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KSI Rate by Speed Limit (%)</c:v>
                </c:pt>
              </c:strCache>
            </c:strRef>
          </c:tx>
          <c:spPr>
            <a:ln w="19050" cap="rnd" cmpd="sng" algn="ctr">
              <a:solidFill>
                <a:srgbClr val="0EA39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EA394"/>
              </a:solidFill>
              <a:ln w="9525" cap="flat" cmpd="sng" algn="ctr">
                <a:solidFill>
                  <a:srgbClr val="0EA394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numRef>
              <c:f>Sheet1!$A$2:$A$7</c:f>
              <c:numCache>
                <c:formatCode>General</c:formatCode>
                <c:ptCount val="6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16.73</c:v>
                </c:pt>
                <c:pt idx="1">
                  <c:v>18.47</c:v>
                </c:pt>
                <c:pt idx="2">
                  <c:v>22.21</c:v>
                </c:pt>
                <c:pt idx="3">
                  <c:v>22.88</c:v>
                </c:pt>
                <c:pt idx="4">
                  <c:v>29.19</c:v>
                </c:pt>
                <c:pt idx="5">
                  <c:v>19.87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AEB9D6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AEB9D6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f79de949-1002-4171-baa6-087c0032339a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Importance (%)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Vehicle Count</c:v>
                </c:pt>
                <c:pt idx="1">
                  <c:v>Local Authority</c:v>
                </c:pt>
                <c:pt idx="2">
                  <c:v>Urban/Rural Area</c:v>
                </c:pt>
                <c:pt idx="3">
                  <c:v>Male Drivers</c:v>
                </c:pt>
                <c:pt idx="4">
                  <c:v>Vehicle-Age Missing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7.6</c:v>
                </c:pt>
                <c:pt idx="1">
                  <c:v>5.6</c:v>
                </c:pt>
                <c:pt idx="2">
                  <c:v>5</c:v>
                </c:pt>
                <c:pt idx="3">
                  <c:v>4.1</c:v>
                </c:pt>
                <c:pt idx="4">
                  <c:v>3.9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AEB9D6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5023f41e-36bd-41fb-a6ab-a9cb967ba9b0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KSI Rate (%)</c:v>
                </c:pt>
              </c:strCache>
            </c:strRef>
          </c:tx>
          <c:spPr>
            <a:ln w="31750" cap="flat" cmpd="sng" algn="ctr">
              <a:solidFill>
                <a:srgbClr val="193EB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02060"/>
              </a:solidFill>
              <a:ln w="9525" cap="flat" cmpd="sng" algn="ctr">
                <a:solidFill>
                  <a:srgbClr val="193EB0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12-3AM</c:v>
                </c:pt>
                <c:pt idx="1">
                  <c:v>4-7AM</c:v>
                </c:pt>
                <c:pt idx="2">
                  <c:v>8-11AM</c:v>
                </c:pt>
                <c:pt idx="3">
                  <c:v>12-3PM</c:v>
                </c:pt>
                <c:pt idx="4">
                  <c:v>4-7PM</c:v>
                </c:pt>
                <c:pt idx="5">
                  <c:v>8-11PM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27.44</c:v>
                </c:pt>
                <c:pt idx="1">
                  <c:v>23.11</c:v>
                </c:pt>
                <c:pt idx="2">
                  <c:v>17.87</c:v>
                </c:pt>
                <c:pt idx="3">
                  <c:v>19.65</c:v>
                </c:pt>
                <c:pt idx="4">
                  <c:v>20.32</c:v>
                </c:pt>
                <c:pt idx="5">
                  <c:v>23.46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AEB9D6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AEB9D6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78c71249-81e0-46dd-8474-83f442cc6c66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1195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1195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defRPr sz="1195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5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5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5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5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1.7.2013</a:t>
            </a:r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  <a:endParaRPr lang="en-US"/>
          </a:p>
          <a:p>
            <a:r>
              <a:rPr lang="en-US"/>
              <a:t>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r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E0677F5-4A8A-4BF1-96BE-3BAE8FBAFE2E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1560963-1EEA-4BDE-8FF9-3FEE13B5D43C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2CEDE-2AB4-4FB8-9551-E0AA4222B1A3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2CEDE-2AB4-4FB8-9551-E0AA4222B1A3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  <a:endParaRPr lang="en-US"/>
          </a:p>
          <a:p>
            <a:pPr marL="228600" lvl="1" indent="-228600"/>
            <a:r>
              <a:rPr lang="en-US"/>
              <a:t>Second level</a:t>
            </a:r>
            <a:endParaRPr lang="en-US"/>
          </a:p>
          <a:p>
            <a:pPr marL="228600" lvl="2" indent="-228600"/>
            <a:r>
              <a:rPr lang="en-US"/>
              <a:t>Third level</a:t>
            </a:r>
            <a:endParaRPr lang="en-US"/>
          </a:p>
          <a:p>
            <a:pPr marL="228600" lvl="3" indent="-228600"/>
            <a:r>
              <a:rPr lang="en-US"/>
              <a:t>Fourth level</a:t>
            </a:r>
            <a:endParaRPr lang="en-US"/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08220-0958-4EB6-84AC-FBA5654D4035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5E0677F5-4A8A-4BF1-96BE-3BAE8FBAFE2E}" type="slidenum">
              <a:rPr lang="en-US" smtClean="0"/>
            </a:fld>
            <a:endParaRPr lang="en-US" dirty="0"/>
          </a:p>
        </p:txBody>
      </p:sp>
      <p:sp>
        <p:nvSpPr>
          <p:cNvPr id="4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E0677F5-4A8A-4BF1-96BE-3BAE8FBAFE2E}" type="slidenum">
              <a:rPr lang="en-US" smtClean="0"/>
            </a:fld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E0677F5-4A8A-4BF1-96BE-3BAE8FBAFE2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5E0677F5-4A8A-4BF1-96BE-3BAE8FBAFE2E}" type="slidenum">
              <a:rPr lang="en-US" smtClean="0"/>
            </a:fld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5E0677F5-4A8A-4BF1-96BE-3BAE8FBAFE2E}" type="slidenum">
              <a:rPr lang="en-US" smtClean="0"/>
            </a:fld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/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AA3E-BE52-42BC-99E8-CCCB81A57ABD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491A9-BF26-4517-AB22-6183D453A902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24DF-23AF-419A-978A-28215FBF1E37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9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5.xml"/><Relationship Id="rId6" Type="http://schemas.openxmlformats.org/officeDocument/2006/relationships/image" Target="../media/image12.jpeg"/><Relationship Id="rId5" Type="http://schemas.microsoft.com/office/2007/relationships/hdphoto" Target="../media/image11.wdp"/><Relationship Id="rId4" Type="http://schemas.openxmlformats.org/officeDocument/2006/relationships/image" Target="../media/image10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8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8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22.jpeg"/><Relationship Id="rId1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16.jpeg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8.xml"/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8.xml"/><Relationship Id="rId3" Type="http://schemas.openxmlformats.org/officeDocument/2006/relationships/image" Target="../media/image16.jpeg"/><Relationship Id="rId2" Type="http://schemas.openxmlformats.org/officeDocument/2006/relationships/image" Target="../media/image37.jpeg"/><Relationship Id="rId1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38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35.jpeg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8.xml"/><Relationship Id="rId1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39.jpeg"/><Relationship Id="rId1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8.xml"/><Relationship Id="rId1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8.xml"/><Relationship Id="rId1" Type="http://schemas.openxmlformats.org/officeDocument/2006/relationships/chart" Target="../charts/char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8.xml"/><Relationship Id="rId1" Type="http://schemas.openxmlformats.org/officeDocument/2006/relationships/chart" Target="../charts/chart6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8.xml"/><Relationship Id="rId4" Type="http://schemas.openxmlformats.org/officeDocument/2006/relationships/chart" Target="../charts/chart10.xml"/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chart" Target="../charts/char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3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25034" y="1385651"/>
            <a:ext cx="6332965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3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Arimo"/>
              </a:rPr>
              <a:t>UK Road Accident Severity: Predicting KSI Outcomes </a:t>
            </a:r>
            <a:endParaRPr lang="en-US" sz="4300" dirty="0">
              <a:solidFill>
                <a:schemeClr val="bg1"/>
              </a:solidFill>
              <a:latin typeface="+mj-lt"/>
              <a:ea typeface="+mj-ea"/>
              <a:cs typeface="+mj-cs"/>
              <a:sym typeface="Arim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5035" y="3867683"/>
            <a:ext cx="3318043" cy="642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  <a:sym typeface="Arial MT Pro"/>
              </a:rPr>
              <a:t>SIC – AI801</a:t>
            </a:r>
            <a:endParaRPr lang="en-US" sz="2000" dirty="0">
              <a:solidFill>
                <a:schemeClr val="bg1"/>
              </a:solidFill>
              <a:sym typeface="Arial MT Pro"/>
            </a:endParaRPr>
          </a:p>
        </p:txBody>
      </p:sp>
      <p:sp>
        <p:nvSpPr>
          <p:cNvPr id="2" name="Freeform 2"/>
          <p:cNvSpPr/>
          <p:nvPr/>
        </p:nvSpPr>
        <p:spPr>
          <a:xfrm>
            <a:off x="10424226" y="247009"/>
            <a:ext cx="1599011" cy="524091"/>
          </a:xfrm>
          <a:custGeom>
            <a:avLst/>
            <a:gdLst/>
            <a:ahLst/>
            <a:cxnLst/>
            <a:rect l="l" t="t" r="r" b="b"/>
            <a:pathLst>
              <a:path w="1599011" h="524091">
                <a:moveTo>
                  <a:pt x="0" y="0"/>
                </a:moveTo>
                <a:lnTo>
                  <a:pt x="1599011" y="0"/>
                </a:lnTo>
                <a:lnTo>
                  <a:pt x="1599011" y="524091"/>
                </a:lnTo>
                <a:lnTo>
                  <a:pt x="0" y="52409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654288" y="403958"/>
            <a:ext cx="1360963" cy="210192"/>
          </a:xfrm>
          <a:custGeom>
            <a:avLst/>
            <a:gdLst/>
            <a:ahLst/>
            <a:cxnLst/>
            <a:rect l="l" t="t" r="r" b="b"/>
            <a:pathLst>
              <a:path w="1360963" h="210192">
                <a:moveTo>
                  <a:pt x="0" y="0"/>
                </a:moveTo>
                <a:lnTo>
                  <a:pt x="1360963" y="0"/>
                </a:lnTo>
                <a:lnTo>
                  <a:pt x="1360963" y="210192"/>
                </a:lnTo>
                <a:lnTo>
                  <a:pt x="0" y="210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74454" y="-213359"/>
            <a:ext cx="1385212" cy="1385212"/>
          </a:xfrm>
          <a:prstGeom prst="rect">
            <a:avLst/>
          </a:prstGeom>
        </p:spPr>
      </p:pic>
      <p:pic>
        <p:nvPicPr>
          <p:cNvPr id="6" name="Picture 5" descr="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615" y="1385570"/>
            <a:ext cx="5902960" cy="4693285"/>
          </a:xfrm>
          <a:prstGeom prst="round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438835" y="260471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 ·  SEPTEMBER 2026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UK Road Accidents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05840" y="3090672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Severity (KSI) Prediction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3822192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Data-Driven Insights into Accident Severity &amp; Road Safety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51560" y="5806440"/>
            <a:ext cx="2743200" cy="10973"/>
          </a:xfrm>
          <a:prstGeom prst="rect">
            <a:avLst/>
          </a:prstGeom>
          <a:solidFill>
            <a:srgbClr val="3A4A78"/>
          </a:solidFill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451275"/>
            <a:ext cx="2438741" cy="2438741"/>
          </a:xfrm>
          <a:prstGeom prst="rect">
            <a:avLst/>
          </a:prstGeom>
        </p:spPr>
      </p:pic>
      <p:pic>
        <p:nvPicPr>
          <p:cNvPr id="2" name="Picture 1" descr="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35010" y="593725"/>
            <a:ext cx="3856990" cy="6263640"/>
          </a:xfrm>
          <a:prstGeom prst="round1Rect">
            <a:avLst/>
          </a:prstGeom>
        </p:spPr>
      </p:pic>
      <p:pic>
        <p:nvPicPr>
          <p:cNvPr id="3" name="Picture 2" descr="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279265"/>
            <a:ext cx="5050790" cy="2362200"/>
          </a:xfrm>
          <a:prstGeom prst="round2Diag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69900" y="389255"/>
            <a:ext cx="118110" cy="864870"/>
          </a:xfrm>
          <a:prstGeom prst="rect">
            <a:avLst/>
          </a:prstGeom>
          <a:solidFill>
            <a:srgbClr val="002060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5450" y="388597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</a:rPr>
              <a:t>Team Members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702040" y="6123940"/>
            <a:ext cx="331343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 Safety  ·  Data Analyst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· Machine Learning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</p:txBody>
      </p:sp>
      <p:sp>
        <p:nvSpPr>
          <p:cNvPr id="23" name="Text 4"/>
          <p:cNvSpPr/>
          <p:nvPr/>
        </p:nvSpPr>
        <p:spPr>
          <a:xfrm>
            <a:off x="4892440" y="3650717"/>
            <a:ext cx="1990702" cy="6181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200" b="1" dirty="0">
                <a:solidFill>
                  <a:schemeClr val="bg1"/>
                </a:solidFill>
              </a:rPr>
              <a:t>Islam Mohamed Fathy</a:t>
            </a:r>
            <a:endParaRPr lang="en-US" altLang="en-US" sz="1200" b="1" dirty="0">
              <a:solidFill>
                <a:schemeClr val="bg1"/>
              </a:solidFill>
            </a:endParaRPr>
          </a:p>
        </p:txBody>
      </p:sp>
      <p:sp>
        <p:nvSpPr>
          <p:cNvPr id="24" name="Text 4"/>
          <p:cNvSpPr/>
          <p:nvPr/>
        </p:nvSpPr>
        <p:spPr>
          <a:xfrm>
            <a:off x="6883327" y="4181902"/>
            <a:ext cx="2411108" cy="6181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200" b="1" dirty="0">
                <a:solidFill>
                  <a:schemeClr val="bg1"/>
                </a:solidFill>
              </a:rPr>
              <a:t>Youssef Elkess Toma</a:t>
            </a:r>
            <a:endParaRPr lang="en-US" altLang="en-US" sz="1200" b="1" dirty="0">
              <a:solidFill>
                <a:schemeClr val="bg1"/>
              </a:solidFill>
            </a:endParaRPr>
          </a:p>
        </p:txBody>
      </p:sp>
      <p:sp>
        <p:nvSpPr>
          <p:cNvPr id="26" name="Text 4"/>
          <p:cNvSpPr/>
          <p:nvPr/>
        </p:nvSpPr>
        <p:spPr>
          <a:xfrm>
            <a:off x="2579158" y="4105067"/>
            <a:ext cx="1990702" cy="6181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Montserrat" pitchFamily="34" charset="0"/>
              </a:rPr>
              <a:t>Moataz Sameh Shehata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454025" y="3801745"/>
            <a:ext cx="1470660" cy="6178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Mayar elaraby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5" name="Picture 4" descr="5"/>
          <p:cNvPicPr>
            <a:picLocks noChangeAspect="1"/>
          </p:cNvPicPr>
          <p:nvPr/>
        </p:nvPicPr>
        <p:blipFill>
          <a:blip r:embed="rId1"/>
          <a:srcRect l="22716" t="17435" r="26377" b="13167"/>
          <a:stretch>
            <a:fillRect/>
          </a:stretch>
        </p:blipFill>
        <p:spPr>
          <a:xfrm>
            <a:off x="9158605" y="108585"/>
            <a:ext cx="3142615" cy="2857500"/>
          </a:xfrm>
          <a:prstGeom prst="ellipse">
            <a:avLst/>
          </a:prstGeom>
        </p:spPr>
      </p:pic>
      <p:pic>
        <p:nvPicPr>
          <p:cNvPr id="7" name="Picture 6" descr="6"/>
          <p:cNvPicPr>
            <a:picLocks noChangeAspect="1"/>
          </p:cNvPicPr>
          <p:nvPr/>
        </p:nvPicPr>
        <p:blipFill>
          <a:blip r:embed="rId2"/>
          <a:srcRect r="-396"/>
          <a:stretch>
            <a:fillRect/>
          </a:stretch>
        </p:blipFill>
        <p:spPr>
          <a:xfrm>
            <a:off x="0" y="4722495"/>
            <a:ext cx="2858770" cy="2135505"/>
          </a:xfrm>
          <a:prstGeom prst="round2DiagRect">
            <a:avLst>
              <a:gd name="adj1" fmla="val 16667"/>
              <a:gd name="adj2" fmla="val 261"/>
            </a:avLst>
          </a:prstGeom>
        </p:spPr>
      </p:pic>
      <p:pic>
        <p:nvPicPr>
          <p:cNvPr id="8" name="Picture 7" descr="Moataz"/>
          <p:cNvPicPr>
            <a:picLocks noChangeAspect="1"/>
          </p:cNvPicPr>
          <p:nvPr/>
        </p:nvPicPr>
        <p:blipFill>
          <a:blip r:embed="rId3"/>
          <a:srcRect l="11309" t="9435" r="15247" b="19926"/>
          <a:stretch>
            <a:fillRect/>
          </a:stretch>
        </p:blipFill>
        <p:spPr>
          <a:xfrm>
            <a:off x="2579370" y="1584960"/>
            <a:ext cx="1899920" cy="2623185"/>
          </a:xfrm>
          <a:prstGeom prst="roundRect">
            <a:avLst/>
          </a:prstGeom>
        </p:spPr>
      </p:pic>
      <p:pic>
        <p:nvPicPr>
          <p:cNvPr id="11" name="Picture 10" descr="ميار"/>
          <p:cNvPicPr>
            <a:picLocks noChangeAspect="1"/>
          </p:cNvPicPr>
          <p:nvPr/>
        </p:nvPicPr>
        <p:blipFill>
          <a:blip r:embed="rId4"/>
          <a:srcRect l="17319" t="12611" r="21338" b="12463"/>
          <a:stretch>
            <a:fillRect/>
          </a:stretch>
        </p:blipFill>
        <p:spPr>
          <a:xfrm>
            <a:off x="240030" y="1340485"/>
            <a:ext cx="1899285" cy="2544445"/>
          </a:xfrm>
          <a:prstGeom prst="roundRect">
            <a:avLst/>
          </a:prstGeom>
        </p:spPr>
      </p:pic>
      <p:pic>
        <p:nvPicPr>
          <p:cNvPr id="12" name="Picture 11" descr="اسلام"/>
          <p:cNvPicPr>
            <a:picLocks noChangeAspect="1"/>
          </p:cNvPicPr>
          <p:nvPr/>
        </p:nvPicPr>
        <p:blipFill>
          <a:blip r:embed="rId5"/>
          <a:srcRect l="16244" t="27056" r="19374"/>
          <a:stretch>
            <a:fillRect/>
          </a:stretch>
        </p:blipFill>
        <p:spPr>
          <a:xfrm>
            <a:off x="4865370" y="1132840"/>
            <a:ext cx="1993900" cy="2668905"/>
          </a:xfrm>
          <a:prstGeom prst="roundRect">
            <a:avLst/>
          </a:prstGeom>
        </p:spPr>
      </p:pic>
      <p:pic>
        <p:nvPicPr>
          <p:cNvPr id="13" name="Picture 12" descr="يوسف"/>
          <p:cNvPicPr>
            <a:picLocks noChangeAspect="1"/>
          </p:cNvPicPr>
          <p:nvPr/>
        </p:nvPicPr>
        <p:blipFill>
          <a:blip r:embed="rId6"/>
          <a:srcRect l="10284" t="4676" r="5060"/>
          <a:stretch>
            <a:fillRect/>
          </a:stretch>
        </p:blipFill>
        <p:spPr>
          <a:xfrm>
            <a:off x="7173595" y="1423670"/>
            <a:ext cx="1891665" cy="2622550"/>
          </a:xfrm>
          <a:prstGeom prst="round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521" y="313695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73152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" pitchFamily="34" charset="-120"/>
              </a:rPr>
              <a:t>01</a:t>
            </a:r>
            <a:endParaRPr lang="en-US" sz="26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37360" y="1947672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0" y="1874520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road safety needs a data-driven lens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1064240" cy="73152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770632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" pitchFamily="34" charset="-120"/>
              </a:rPr>
              <a:t>02</a:t>
            </a:r>
            <a:endParaRPr lang="en-US" sz="26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37360" y="284378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&amp; Cleaning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5040" y="2770632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122,635 raw accidents to an analysis-ready dataset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666744"/>
            <a:ext cx="11064240" cy="73152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666744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37360" y="3739896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5040" y="3666744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actually drives accident severity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562856"/>
            <a:ext cx="11064240" cy="73152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562856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37360" y="463600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&amp; Evaluation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5040" y="4562856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Comparing models and validating performance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5458968"/>
            <a:ext cx="11064240" cy="73152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5458968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737360" y="553212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5040" y="5458968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findings into road-safety actions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904383"/>
            <a:ext cx="716774" cy="716774"/>
          </a:xfrm>
          <a:prstGeom prst="rect">
            <a:avLst/>
          </a:prstGeom>
          <a:noFill/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3866" y="2797694"/>
            <a:ext cx="716774" cy="716774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5386" y="3659057"/>
            <a:ext cx="716774" cy="71677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3866" y="4569915"/>
            <a:ext cx="716774" cy="71677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5449083"/>
            <a:ext cx="716774" cy="716774"/>
          </a:xfrm>
          <a:prstGeom prst="rect">
            <a:avLst/>
          </a:prstGeom>
        </p:spPr>
      </p:pic>
      <p:pic>
        <p:nvPicPr>
          <p:cNvPr id="24" name="Picture 23" descr="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120" y="20320"/>
            <a:ext cx="4779645" cy="1682115"/>
          </a:xfrm>
          <a:prstGeom prst="round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442" y="356616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00206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-120"/>
              </a:rPr>
              <a:t>THE CHALLENGE</a:t>
            </a:r>
            <a:endParaRPr lang="en-US" sz="3600" dirty="0">
              <a:solidFill>
                <a:srgbClr val="00206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Road-safety decisions need to be grounded in data, not intuition alone.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1810512"/>
            <a:ext cx="12188952" cy="10973"/>
          </a:xfrm>
          <a:prstGeom prst="rect">
            <a:avLst/>
          </a:prstGeom>
          <a:solidFill>
            <a:srgbClr val="E1E5E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48640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8233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-120"/>
              </a:rPr>
              <a:t>Road safety authorities and transport planners face one core question: what actually makes an accident severe? Without a clear answer, safety investment defaults to guesswork.</a:t>
            </a:r>
            <a:endParaRPr lang="en-US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99508" y="385328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-120"/>
              </a:rPr>
              <a:t>?</a:t>
            </a:r>
            <a:endParaRPr lang="en-US" sz="156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6260" y="354330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" pitchFamily="34" charset="-120"/>
              </a:rPr>
              <a:t>Analysis Goal</a:t>
            </a:r>
            <a:endParaRPr lang="en-US" sz="2800" dirty="0">
              <a:solidFill>
                <a:srgbClr val="00206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1980" y="4239442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-120"/>
              </a:rPr>
              <a:t>Explore how speed, time of day, weather, road type, and driver/vehicle factors relate to accident severity (KSI), and quantify which matter most.</a:t>
            </a:r>
            <a:endParaRPr lang="en-US" sz="1400" b="1" dirty="0">
              <a:solidFill>
                <a:srgbClr val="00206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92240" y="2148840"/>
            <a:ext cx="2446020" cy="1463040"/>
          </a:xfrm>
          <a:prstGeom prst="roundRect">
            <a:avLst>
              <a:gd name="adj" fmla="val 5000"/>
            </a:avLst>
          </a:prstGeom>
          <a:solidFill>
            <a:srgbClr val="002060"/>
          </a:solidFill>
          <a:ln w="12700">
            <a:solidFill>
              <a:srgbClr val="E1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28217" y="21188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-120"/>
              </a:rPr>
              <a:t>SPD</a:t>
            </a:r>
            <a:endParaRPr lang="en-US" sz="143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75120" y="3040253"/>
            <a:ext cx="20802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Speed Limit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66860" y="2148840"/>
            <a:ext cx="244602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045952" y="208106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-120"/>
              </a:rPr>
              <a:t>HR</a:t>
            </a:r>
            <a:endParaRPr lang="en-US" sz="1600" b="1" dirty="0">
              <a:solidFill>
                <a:srgbClr val="00206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395460" y="3047365"/>
            <a:ext cx="2080260" cy="506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233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" pitchFamily="34" charset="-120"/>
              </a:rPr>
              <a:t>Time of Day</a:t>
            </a:r>
            <a:endParaRPr lang="en-US" sz="17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92240" y="3840480"/>
            <a:ext cx="244602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35340" y="385313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-120"/>
              </a:rPr>
              <a:t>RD</a:t>
            </a:r>
            <a:endParaRPr lang="en-US" sz="1600" dirty="0">
              <a:solidFill>
                <a:srgbClr val="00206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675120" y="4711573"/>
            <a:ext cx="20802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 Type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166860" y="3840480"/>
            <a:ext cx="2446020" cy="1463040"/>
          </a:xfrm>
          <a:prstGeom prst="roundRect">
            <a:avLst>
              <a:gd name="adj" fmla="val 5000"/>
            </a:avLst>
          </a:prstGeom>
          <a:solidFill>
            <a:srgbClr val="002060"/>
          </a:solidFill>
          <a:ln w="12700">
            <a:solidFill>
              <a:srgbClr val="E1E5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140440" y="385313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-120"/>
              </a:rPr>
              <a:t>WX</a:t>
            </a:r>
            <a:endParaRPr lang="en-US" sz="143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349740" y="4714113"/>
            <a:ext cx="20802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Weather/Light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pic>
        <p:nvPicPr>
          <p:cNvPr id="7" name="Picture 6" descr="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186680"/>
            <a:ext cx="4208145" cy="1578610"/>
          </a:xfrm>
          <a:prstGeom prst="round2DiagRect">
            <a:avLst/>
          </a:prstGeom>
        </p:spPr>
      </p:pic>
      <p:pic>
        <p:nvPicPr>
          <p:cNvPr id="8" name="Picture 7" descr="9"/>
          <p:cNvPicPr>
            <a:picLocks noChangeAspect="1"/>
          </p:cNvPicPr>
          <p:nvPr/>
        </p:nvPicPr>
        <p:blipFill>
          <a:blip r:embed="rId2"/>
          <a:srcRect l="333" t="38231" r="-333" b="27741"/>
          <a:stretch>
            <a:fillRect/>
          </a:stretch>
        </p:blipFill>
        <p:spPr>
          <a:xfrm flipH="1">
            <a:off x="7915275" y="0"/>
            <a:ext cx="4208780" cy="1755140"/>
          </a:xfrm>
          <a:prstGeom prst="round1Rect">
            <a:avLst/>
          </a:prstGeom>
        </p:spPr>
      </p:pic>
      <p:pic>
        <p:nvPicPr>
          <p:cNvPr id="13" name="Picture 12" descr="lim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270" y="2175510"/>
            <a:ext cx="866775" cy="866775"/>
          </a:xfrm>
          <a:prstGeom prst="rect">
            <a:avLst/>
          </a:prstGeom>
        </p:spPr>
      </p:pic>
      <p:pic>
        <p:nvPicPr>
          <p:cNvPr id="17" name="Picture 16" descr="international-day-of-democrac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740" y="2164080"/>
            <a:ext cx="1062990" cy="862330"/>
          </a:xfrm>
          <a:prstGeom prst="rect">
            <a:avLst/>
          </a:prstGeom>
        </p:spPr>
      </p:pic>
      <p:pic>
        <p:nvPicPr>
          <p:cNvPr id="21" name="Picture 20" descr="destin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255" y="3938905"/>
            <a:ext cx="883285" cy="795020"/>
          </a:xfrm>
          <a:prstGeom prst="rect">
            <a:avLst/>
          </a:prstGeom>
        </p:spPr>
      </p:pic>
      <p:pic>
        <p:nvPicPr>
          <p:cNvPr id="25" name="Picture 24" descr="weath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4175" y="3939540"/>
            <a:ext cx="866140" cy="786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4632" y="569516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122,635 UK road accidents (2018 STATS19), merged with vehicle data.</a:t>
            </a:r>
            <a:endParaRPr lang="en-US" sz="1600" b="1" dirty="0"/>
          </a:p>
        </p:txBody>
      </p:sp>
      <p:sp>
        <p:nvSpPr>
          <p:cNvPr id="5" name="Shape 3"/>
          <p:cNvSpPr/>
          <p:nvPr/>
        </p:nvSpPr>
        <p:spPr>
          <a:xfrm>
            <a:off x="0" y="1810512"/>
            <a:ext cx="12188952" cy="10973"/>
          </a:xfrm>
          <a:prstGeom prst="rect">
            <a:avLst/>
          </a:prstGeom>
          <a:solidFill>
            <a:srgbClr val="E1E5E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877185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9AA3B5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2276856"/>
            <a:ext cx="2331720" cy="85039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122,635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3145536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Accidents recorded</a:t>
            </a:r>
            <a:endParaRPr lang="en-US" sz="1150" b="1" dirty="0"/>
          </a:p>
        </p:txBody>
      </p:sp>
      <p:sp>
        <p:nvSpPr>
          <p:cNvPr id="9" name="Shape 7"/>
          <p:cNvSpPr/>
          <p:nvPr/>
        </p:nvSpPr>
        <p:spPr>
          <a:xfrm>
            <a:off x="3699510" y="2101215"/>
            <a:ext cx="2789555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9AA3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81425" y="2435860"/>
            <a:ext cx="2347595" cy="635635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226,409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781425" y="3092831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 records merged</a:t>
            </a:r>
            <a:endParaRPr lang="en-US" sz="1150" b="1" dirty="0"/>
          </a:p>
        </p:txBody>
      </p:sp>
      <p:sp>
        <p:nvSpPr>
          <p:cNvPr id="12" name="Shape 10"/>
          <p:cNvSpPr/>
          <p:nvPr/>
        </p:nvSpPr>
        <p:spPr>
          <a:xfrm>
            <a:off x="548640" y="3799205"/>
            <a:ext cx="283337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9AA3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79805" y="4026535"/>
            <a:ext cx="925830" cy="65913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4850511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 after merging</a:t>
            </a:r>
            <a:endParaRPr lang="en-US" sz="1150" b="1" dirty="0"/>
          </a:p>
        </p:txBody>
      </p:sp>
      <p:sp>
        <p:nvSpPr>
          <p:cNvPr id="15" name="Shape 13"/>
          <p:cNvSpPr/>
          <p:nvPr/>
        </p:nvSpPr>
        <p:spPr>
          <a:xfrm>
            <a:off x="3699510" y="3686810"/>
            <a:ext cx="2789555" cy="15189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9AA3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81425" y="4767580"/>
            <a:ext cx="2331720" cy="328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covered (STATS19)</a:t>
            </a:r>
            <a:endParaRPr lang="en-US" sz="1150" b="1" dirty="0"/>
          </a:p>
        </p:txBody>
      </p:sp>
      <p:sp>
        <p:nvSpPr>
          <p:cNvPr id="18" name="Text 16"/>
          <p:cNvSpPr/>
          <p:nvPr/>
        </p:nvSpPr>
        <p:spPr>
          <a:xfrm>
            <a:off x="8282940" y="3256915"/>
            <a:ext cx="2725420" cy="2546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7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Accident-level </a:t>
            </a:r>
            <a:r>
              <a:rPr lang="en-US" altLang="en-US" sz="1700" b="1" dirty="0">
                <a:solidFill>
                  <a:srgbClr val="002060"/>
                </a:solidFill>
                <a:latin typeface="+mj-lt"/>
                <a:cs typeface="+mj-lt"/>
              </a:rPr>
              <a:t>features</a:t>
            </a:r>
            <a:endParaRPr lang="en-US" altLang="en-US" sz="1700" b="1" dirty="0">
              <a:solidFill>
                <a:srgbClr val="002060"/>
              </a:solidFill>
              <a:latin typeface="+mj-lt"/>
              <a:cs typeface="+mj-lt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18350" y="3632200"/>
            <a:ext cx="925195" cy="292735"/>
          </a:xfrm>
          <a:prstGeom prst="roundRect">
            <a:avLst>
              <a:gd name="adj" fmla="val 50000"/>
            </a:avLst>
          </a:prstGeom>
          <a:solidFill>
            <a:srgbClr val="223159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18350" y="3614293"/>
            <a:ext cx="925373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Speed_limit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52765" y="3613785"/>
            <a:ext cx="1033780" cy="311150"/>
          </a:xfrm>
          <a:prstGeom prst="roundRect">
            <a:avLst>
              <a:gd name="adj" fmla="val 50000"/>
            </a:avLst>
          </a:prstGeom>
          <a:solidFill>
            <a:srgbClr val="223159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07045" y="3613785"/>
            <a:ext cx="116713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Road_Type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19895" y="3612007"/>
            <a:ext cx="1569110" cy="292608"/>
          </a:xfrm>
          <a:prstGeom prst="roundRect">
            <a:avLst>
              <a:gd name="adj" fmla="val 50000"/>
            </a:avLst>
          </a:prstGeom>
          <a:solidFill>
            <a:srgbClr val="223159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19895" y="3614293"/>
            <a:ext cx="156911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Light_Conditions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1045977" y="3596767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23159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045977" y="359333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Weather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18424" y="4026662"/>
            <a:ext cx="1166774" cy="292608"/>
          </a:xfrm>
          <a:prstGeom prst="roundRect">
            <a:avLst>
              <a:gd name="adj" fmla="val 50000"/>
            </a:avLst>
          </a:prstGeom>
          <a:solidFill>
            <a:srgbClr val="223159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43824" y="3989578"/>
            <a:ext cx="116677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Urban/Rural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29881" y="4923917"/>
            <a:ext cx="1247242" cy="292608"/>
          </a:xfrm>
          <a:prstGeom prst="roundRect">
            <a:avLst>
              <a:gd name="adj" fmla="val 50000"/>
            </a:avLst>
          </a:prstGeom>
          <a:solidFill>
            <a:srgbClr val="223159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04481" y="4890008"/>
            <a:ext cx="124724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Driver_Age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63025" y="4905375"/>
            <a:ext cx="1166495" cy="295910"/>
          </a:xfrm>
          <a:prstGeom prst="roundRect">
            <a:avLst>
              <a:gd name="adj" fmla="val 50000"/>
            </a:avLst>
          </a:prstGeom>
          <a:solidFill>
            <a:srgbClr val="223159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27770" y="4883785"/>
            <a:ext cx="1409065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Engine_CC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316845" y="4920615"/>
            <a:ext cx="1247140" cy="274320"/>
          </a:xfrm>
          <a:prstGeom prst="roundRect">
            <a:avLst>
              <a:gd name="adj" fmla="val 50000"/>
            </a:avLst>
          </a:prstGeom>
          <a:solidFill>
            <a:srgbClr val="223159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274300" y="4890135"/>
            <a:ext cx="126238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Veh_Count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697618" y="4026789"/>
            <a:ext cx="1488643" cy="292608"/>
          </a:xfrm>
          <a:prstGeom prst="roundRect">
            <a:avLst>
              <a:gd name="adj" fmla="val 50000"/>
            </a:avLst>
          </a:prstGeom>
          <a:solidFill>
            <a:srgbClr val="223159"/>
          </a:solidFill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729368" y="3989705"/>
            <a:ext cx="1488643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Local_Authority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82940" y="5216525"/>
            <a:ext cx="1304925" cy="307975"/>
          </a:xfrm>
          <a:prstGeom prst="roundRect">
            <a:avLst>
              <a:gd name="adj" fmla="val 50000"/>
            </a:avLst>
          </a:prstGeom>
          <a:solidFill>
            <a:srgbClr val="223159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00206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-120"/>
              </a:rPr>
              <a:t>Each row represents one accident record — the unit of analysis throughout this deck.</a:t>
            </a:r>
            <a:endParaRPr lang="en-US" b="1" dirty="0">
              <a:solidFill>
                <a:srgbClr val="00206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pic>
        <p:nvPicPr>
          <p:cNvPr id="2" name="Picture 1" descr="imag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4780" y="12700"/>
            <a:ext cx="3905250" cy="3114675"/>
          </a:xfrm>
          <a:prstGeom prst="round2DiagRect">
            <a:avLst/>
          </a:prstGeom>
        </p:spPr>
      </p:pic>
      <p:pic>
        <p:nvPicPr>
          <p:cNvPr id="41" name="Picture 40" descr="incident-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2638425" y="2435860"/>
            <a:ext cx="743585" cy="743585"/>
          </a:xfrm>
          <a:prstGeom prst="rect">
            <a:avLst/>
          </a:prstGeom>
        </p:spPr>
      </p:pic>
      <p:pic>
        <p:nvPicPr>
          <p:cNvPr id="43" name="Picture 42" descr="coun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985" y="2436495"/>
            <a:ext cx="742950" cy="742950"/>
          </a:xfrm>
          <a:prstGeom prst="rect">
            <a:avLst/>
          </a:prstGeom>
        </p:spPr>
      </p:pic>
      <p:pic>
        <p:nvPicPr>
          <p:cNvPr id="45" name="Picture 44" descr="fea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V="1">
            <a:off x="2171700" y="3925570"/>
            <a:ext cx="925195" cy="925195"/>
          </a:xfrm>
          <a:prstGeom prst="rect">
            <a:avLst/>
          </a:prstGeom>
        </p:spPr>
      </p:pic>
      <p:pic>
        <p:nvPicPr>
          <p:cNvPr id="47" name="Picture 46" descr="20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2080" y="3799205"/>
            <a:ext cx="1409065" cy="886460"/>
          </a:xfrm>
          <a:prstGeom prst="rect">
            <a:avLst/>
          </a:prstGeom>
        </p:spPr>
      </p:pic>
      <p:sp>
        <p:nvSpPr>
          <p:cNvPr id="49" name="Text Box 48"/>
          <p:cNvSpPr txBox="1"/>
          <p:nvPr/>
        </p:nvSpPr>
        <p:spPr>
          <a:xfrm>
            <a:off x="8308975" y="4447540"/>
            <a:ext cx="2667000" cy="45783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Vehicle-derived features</a:t>
            </a:r>
            <a:endParaRPr lang="en-US" alt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32"/>
          <p:cNvSpPr/>
          <p:nvPr/>
        </p:nvSpPr>
        <p:spPr>
          <a:xfrm>
            <a:off x="8282940" y="5233035"/>
            <a:ext cx="126238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 Age</a:t>
            </a:r>
            <a:endParaRPr lang="ar-EG" altLang="en-US" sz="10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7" name="Shape 27"/>
          <p:cNvSpPr/>
          <p:nvPr/>
        </p:nvSpPr>
        <p:spPr>
          <a:xfrm>
            <a:off x="9728886" y="5216652"/>
            <a:ext cx="1247242" cy="292608"/>
          </a:xfrm>
          <a:prstGeom prst="roundRect">
            <a:avLst>
              <a:gd name="adj" fmla="val 50000"/>
            </a:avLst>
          </a:prstGeom>
          <a:solidFill>
            <a:srgbClr val="223159"/>
          </a:solidFill>
        </p:spPr>
        <p:txBody>
          <a:bodyPr/>
          <a:lstStyle/>
          <a:p>
            <a:endParaRPr lang="en-US"/>
          </a:p>
        </p:txBody>
      </p:sp>
      <p:sp>
        <p:nvSpPr>
          <p:cNvPr id="58" name="Text 28"/>
          <p:cNvSpPr/>
          <p:nvPr/>
        </p:nvSpPr>
        <p:spPr>
          <a:xfrm>
            <a:off x="9792386" y="5197983"/>
            <a:ext cx="124724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Male Drivers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PREPARATION</a:t>
            </a:r>
            <a:endParaRPr lang="en-US" sz="1100" b="1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Cleaning Process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6072" y="1152389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steps turned raw, messy accident/vehicle records into an analysis-ready dataset.</a:t>
            </a:r>
            <a:endParaRPr lang="en-US" sz="1450" b="1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1810512"/>
            <a:ext cx="12188952" cy="10973"/>
          </a:xfrm>
          <a:prstGeom prst="rect">
            <a:avLst/>
          </a:prstGeom>
          <a:solidFill>
            <a:srgbClr val="E1E5E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1098581" y="2335623"/>
            <a:ext cx="4541461" cy="852220"/>
          </a:xfrm>
          <a:prstGeom prst="roundRect">
            <a:avLst>
              <a:gd name="adj" fmla="val 3902"/>
            </a:avLst>
          </a:prstGeom>
          <a:solidFill>
            <a:srgbClr val="18233F"/>
          </a:solidFill>
          <a:ln w="12700">
            <a:solidFill>
              <a:srgbClr val="E1E5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4192" y="2433685"/>
            <a:ext cx="32186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Standardize identifiers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24192" y="2600327"/>
            <a:ext cx="321868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Accident_Index unified from mixed types (str/int)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84464" y="23500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55" dirty="0"/>
          </a:p>
        </p:txBody>
      </p:sp>
      <p:sp>
        <p:nvSpPr>
          <p:cNvPr id="21" name="Shape 19"/>
          <p:cNvSpPr/>
          <p:nvPr/>
        </p:nvSpPr>
        <p:spPr>
          <a:xfrm>
            <a:off x="-873157" y="3191078"/>
            <a:ext cx="5385650" cy="849274"/>
          </a:xfrm>
          <a:prstGeom prst="roundRect">
            <a:avLst>
              <a:gd name="adj" fmla="val 3902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17136" y="445312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55" dirty="0"/>
          </a:p>
        </p:txBody>
      </p:sp>
      <p:sp>
        <p:nvSpPr>
          <p:cNvPr id="33" name="Text 31"/>
          <p:cNvSpPr/>
          <p:nvPr/>
        </p:nvSpPr>
        <p:spPr>
          <a:xfrm>
            <a:off x="8284464" y="445312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55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72149" y="3321878"/>
            <a:ext cx="32186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Aggregate vehicle data</a:t>
            </a:r>
            <a:endParaRPr lang="en-US" sz="1350" dirty="0">
              <a:solidFill>
                <a:srgbClr val="00206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76885" y="3458304"/>
            <a:ext cx="321868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One-to-many Vehicles data aggregated (avg driver age, engine cc, etc.) before merging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44" name="Shape 4"/>
          <p:cNvSpPr/>
          <p:nvPr/>
        </p:nvSpPr>
        <p:spPr>
          <a:xfrm>
            <a:off x="-1093846" y="4031200"/>
            <a:ext cx="4541461" cy="852220"/>
          </a:xfrm>
          <a:prstGeom prst="roundRect">
            <a:avLst>
              <a:gd name="adj" fmla="val 3902"/>
            </a:avLst>
          </a:prstGeom>
          <a:solidFill>
            <a:srgbClr val="18233F"/>
          </a:solidFill>
          <a:ln w="12700">
            <a:solidFill>
              <a:srgbClr val="E1E5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24192" y="4102282"/>
            <a:ext cx="32186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Drop unusable rows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19457" y="4338885"/>
            <a:ext cx="321868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Rows missing coordinates or time removed; sparse columns dropped</a:t>
            </a:r>
            <a:endParaRPr lang="en-US" sz="1100" dirty="0"/>
          </a:p>
        </p:txBody>
      </p:sp>
      <p:sp>
        <p:nvSpPr>
          <p:cNvPr id="45" name="Shape 19"/>
          <p:cNvSpPr/>
          <p:nvPr/>
        </p:nvSpPr>
        <p:spPr>
          <a:xfrm>
            <a:off x="8083296" y="2332482"/>
            <a:ext cx="5385650" cy="849274"/>
          </a:xfrm>
          <a:prstGeom prst="roundRect">
            <a:avLst>
              <a:gd name="adj" fmla="val 3902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449056" y="2440978"/>
            <a:ext cx="32186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Impute missing specs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449056" y="2600439"/>
            <a:ext cx="321868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avg_driver_age, max_engine_cc, avg_vehicle_age filled via IterativeImputer (Decision Tree)</a:t>
            </a:r>
            <a:endParaRPr lang="en-US" sz="1100" dirty="0"/>
          </a:p>
        </p:txBody>
      </p:sp>
      <p:sp>
        <p:nvSpPr>
          <p:cNvPr id="47" name="Shape 4"/>
          <p:cNvSpPr/>
          <p:nvPr/>
        </p:nvSpPr>
        <p:spPr>
          <a:xfrm>
            <a:off x="7138623" y="3178980"/>
            <a:ext cx="5601809" cy="852220"/>
          </a:xfrm>
          <a:prstGeom prst="roundRect">
            <a:avLst>
              <a:gd name="adj" fmla="val 3902"/>
            </a:avLst>
          </a:prstGeom>
          <a:solidFill>
            <a:srgbClr val="18233F"/>
          </a:solidFill>
          <a:ln w="12700">
            <a:solidFill>
              <a:srgbClr val="E1E5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352888" y="3194878"/>
            <a:ext cx="32186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Flag missingness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7352665" y="3462020"/>
            <a:ext cx="4843145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 missing-value flags added — absence itself correlated with higher severity</a:t>
            </a:r>
            <a:endParaRPr lang="en-US" altLang="en-US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Shape 19"/>
          <p:cNvSpPr/>
          <p:nvPr/>
        </p:nvSpPr>
        <p:spPr>
          <a:xfrm>
            <a:off x="8083296" y="4028254"/>
            <a:ext cx="5385650" cy="849274"/>
          </a:xfrm>
          <a:prstGeom prst="roundRect">
            <a:avLst>
              <a:gd name="adj" fmla="val 3902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284464" y="4188936"/>
            <a:ext cx="32186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Correct invalid values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330184" y="4339081"/>
            <a:ext cx="321868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 CC &gt; 10,000 and driver age &lt; 15 treated as errors, set to missing</a:t>
            </a:r>
            <a:endParaRPr lang="en-US" sz="1100" dirty="0"/>
          </a:p>
        </p:txBody>
      </p:sp>
      <p:pic>
        <p:nvPicPr>
          <p:cNvPr id="7" name="Picture 6" descr="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810" y="2021205"/>
            <a:ext cx="2480310" cy="4509770"/>
          </a:xfrm>
          <a:prstGeom prst="round2DiagRect">
            <a:avLst/>
          </a:prstGeom>
        </p:spPr>
      </p:pic>
      <p:pic>
        <p:nvPicPr>
          <p:cNvPr id="8" name="Picture 7" descr="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931785" y="-8890"/>
            <a:ext cx="4141470" cy="1794510"/>
          </a:xfrm>
          <a:prstGeom prst="round2Diag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123" y="294437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FRAMING THE ANALYSIS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Questions &amp; Hypotheses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questions guided every chart and test in this analysis.</a:t>
            </a:r>
            <a:endParaRPr lang="en-US" b="1" dirty="0"/>
          </a:p>
        </p:txBody>
      </p:sp>
      <p:sp>
        <p:nvSpPr>
          <p:cNvPr id="5" name="Shape 3"/>
          <p:cNvSpPr/>
          <p:nvPr/>
        </p:nvSpPr>
        <p:spPr>
          <a:xfrm>
            <a:off x="0" y="1987677"/>
            <a:ext cx="12188952" cy="10973"/>
          </a:xfrm>
          <a:prstGeom prst="rect">
            <a:avLst/>
          </a:prstGeom>
          <a:solidFill>
            <a:srgbClr val="E1E5EC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Does a higher speed limit increase accident severity?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063240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there a day/night effect on how severe accidents are?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3840480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rural roads see more severe accidents than urban roads?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4617720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Does poor lighting or bad weather raise severity risk?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17320" y="5394960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are the strongest predictors of severity overall?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796" y="2432304"/>
            <a:ext cx="273585" cy="27358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946" y="4773535"/>
            <a:ext cx="273585" cy="27358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63" y="3223748"/>
            <a:ext cx="273585" cy="273585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64" y="5544854"/>
            <a:ext cx="273585" cy="273585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64" y="4002216"/>
            <a:ext cx="273585" cy="273585"/>
          </a:xfrm>
          <a:prstGeom prst="rect">
            <a:avLst/>
          </a:prstGeom>
        </p:spPr>
      </p:pic>
      <p:pic>
        <p:nvPicPr>
          <p:cNvPr id="6" name="Picture 5" descr="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035" y="33020"/>
            <a:ext cx="4685030" cy="1836420"/>
          </a:xfrm>
          <a:prstGeom prst="round2DiagRect">
            <a:avLst/>
          </a:prstGeom>
        </p:spPr>
      </p:pic>
      <p:pic>
        <p:nvPicPr>
          <p:cNvPr id="7" name="Picture 6" descr="7"/>
          <p:cNvPicPr>
            <a:picLocks noChangeAspect="1"/>
          </p:cNvPicPr>
          <p:nvPr/>
        </p:nvPicPr>
        <p:blipFill>
          <a:blip r:embed="rId3"/>
          <a:srcRect l="40809" t="18130" r="29006"/>
          <a:stretch>
            <a:fillRect/>
          </a:stretch>
        </p:blipFill>
        <p:spPr>
          <a:xfrm>
            <a:off x="8717915" y="2116455"/>
            <a:ext cx="3105150" cy="4479925"/>
          </a:xfrm>
          <a:prstGeom prst="round2Diag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1619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FOUNDATION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Correlation Insight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Urban/Rural area and Speed limit show the strongest (though still weak) links to KSI risk.</a:t>
            </a:r>
            <a:endParaRPr lang="en-US" b="1" dirty="0"/>
          </a:p>
        </p:txBody>
      </p:sp>
      <p:sp>
        <p:nvSpPr>
          <p:cNvPr id="5" name="Text 3"/>
          <p:cNvSpPr/>
          <p:nvPr/>
        </p:nvSpPr>
        <p:spPr>
          <a:xfrm>
            <a:off x="3063240" y="1719072"/>
            <a:ext cx="621792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is_KSI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85032" y="1719072"/>
            <a:ext cx="621792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Speed_limit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06824" y="1719072"/>
            <a:ext cx="621792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Urban/Rural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28616" y="1719072"/>
            <a:ext cx="621792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Casualties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50408" y="1719072"/>
            <a:ext cx="621792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Veh. Count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72200" y="1719072"/>
            <a:ext cx="621792" cy="3657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Male Drivers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103120"/>
            <a:ext cx="13258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is_KSI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63240" y="2103120"/>
            <a:ext cx="585216" cy="585216"/>
          </a:xfrm>
          <a:prstGeom prst="rect">
            <a:avLst/>
          </a:prstGeom>
          <a:solidFill>
            <a:srgbClr val="0EA394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63240" y="210312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85032" y="2103120"/>
            <a:ext cx="585216" cy="585216"/>
          </a:xfrm>
          <a:prstGeom prst="rect">
            <a:avLst/>
          </a:prstGeom>
          <a:solidFill>
            <a:srgbClr val="E2762B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85032" y="210312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06824" y="2103120"/>
            <a:ext cx="585216" cy="585216"/>
          </a:xfrm>
          <a:prstGeom prst="rect">
            <a:avLst/>
          </a:prstGeom>
          <a:solidFill>
            <a:srgbClr val="E2762B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06824" y="210312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28616" y="2103120"/>
            <a:ext cx="585216" cy="585216"/>
          </a:xfrm>
          <a:prstGeom prst="rect">
            <a:avLst/>
          </a:prstGeom>
          <a:solidFill>
            <a:srgbClr val="E2762B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28616" y="210312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50408" y="2103120"/>
            <a:ext cx="585216" cy="585216"/>
          </a:xfrm>
          <a:prstGeom prst="rect">
            <a:avLst/>
          </a:prstGeom>
          <a:solidFill>
            <a:srgbClr val="E2762B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50408" y="210312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-0.07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2103120"/>
            <a:ext cx="585216" cy="585216"/>
          </a:xfrm>
          <a:prstGeom prst="rect">
            <a:avLst/>
          </a:prstGeom>
          <a:solidFill>
            <a:srgbClr val="E2762B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72200" y="210312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45920" y="2724912"/>
            <a:ext cx="13258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Speed_limit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63240" y="2724912"/>
            <a:ext cx="585216" cy="585216"/>
          </a:xfrm>
          <a:prstGeom prst="rect">
            <a:avLst/>
          </a:prstGeom>
          <a:solidFill>
            <a:srgbClr val="E2762B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063240" y="272491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85032" y="2724912"/>
            <a:ext cx="585216" cy="585216"/>
          </a:xfrm>
          <a:prstGeom prst="rect">
            <a:avLst/>
          </a:prstGeom>
          <a:solidFill>
            <a:srgbClr val="0EA394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85032" y="272491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06824" y="2724912"/>
            <a:ext cx="585216" cy="585216"/>
          </a:xfrm>
          <a:prstGeom prst="rect">
            <a:avLst/>
          </a:prstGeom>
          <a:solidFill>
            <a:srgbClr val="0EA394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06824" y="272491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8776" y="2724912"/>
            <a:ext cx="585216" cy="585216"/>
          </a:xfrm>
          <a:prstGeom prst="rect">
            <a:avLst/>
          </a:prstGeom>
          <a:solidFill>
            <a:srgbClr val="9AA5B1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28616" y="2724912"/>
            <a:ext cx="585216" cy="585216"/>
          </a:xfrm>
          <a:prstGeom prst="rect">
            <a:avLst/>
          </a:prstGeom>
          <a:solidFill>
            <a:srgbClr val="E276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altLang="en-US" sz="1000" b="1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0.16</a:t>
            </a:r>
            <a:endParaRPr lang="ar-EG" altLang="en-US" sz="1000" b="1" dirty="0">
              <a:solidFill>
                <a:srgbClr val="D8DEE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550408" y="2724912"/>
            <a:ext cx="585216" cy="585216"/>
          </a:xfrm>
          <a:prstGeom prst="rect">
            <a:avLst/>
          </a:prstGeom>
          <a:solidFill>
            <a:srgbClr val="9AA5B1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50408" y="2724912"/>
            <a:ext cx="585216" cy="585216"/>
          </a:xfrm>
          <a:prstGeom prst="rect">
            <a:avLst/>
          </a:prstGeom>
          <a:solidFill>
            <a:srgbClr val="E276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alt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0.12</a:t>
            </a:r>
            <a:endParaRPr lang="ar-EG" altLang="en-US"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72200" y="2724912"/>
            <a:ext cx="585216" cy="585216"/>
          </a:xfrm>
          <a:prstGeom prst="rect">
            <a:avLst/>
          </a:prstGeom>
          <a:solidFill>
            <a:srgbClr val="E2762B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72200" y="272491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altLang="en-US" sz="1000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0.13</a:t>
            </a:r>
            <a:endParaRPr lang="ar-EG" altLang="en-US" sz="1000" dirty="0">
              <a:solidFill>
                <a:srgbClr val="D8DEE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645920" y="3346704"/>
            <a:ext cx="13258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Urban/Rural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063240" y="3346704"/>
            <a:ext cx="585216" cy="585216"/>
          </a:xfrm>
          <a:prstGeom prst="rect">
            <a:avLst/>
          </a:prstGeom>
          <a:solidFill>
            <a:srgbClr val="E2762B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063240" y="3346704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85032" y="3346704"/>
            <a:ext cx="585216" cy="585216"/>
          </a:xfrm>
          <a:prstGeom prst="rect">
            <a:avLst/>
          </a:prstGeom>
          <a:solidFill>
            <a:srgbClr val="0EA394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85032" y="3346704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0.68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306824" y="3346704"/>
            <a:ext cx="585216" cy="585216"/>
          </a:xfrm>
          <a:prstGeom prst="rect">
            <a:avLst/>
          </a:prstGeom>
          <a:solidFill>
            <a:srgbClr val="0EA394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306824" y="3346704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28616" y="3346704"/>
            <a:ext cx="585216" cy="585216"/>
          </a:xfrm>
          <a:prstGeom prst="rect">
            <a:avLst/>
          </a:prstGeom>
          <a:solidFill>
            <a:srgbClr val="9AA5B1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28616" y="3346704"/>
            <a:ext cx="585216" cy="585216"/>
          </a:xfrm>
          <a:prstGeom prst="rect">
            <a:avLst/>
          </a:prstGeom>
          <a:solidFill>
            <a:srgbClr val="E276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alt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0.14</a:t>
            </a:r>
            <a:endParaRPr lang="ar-EG" altLang="en-US"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550408" y="3346704"/>
            <a:ext cx="585216" cy="585216"/>
          </a:xfrm>
          <a:prstGeom prst="rect">
            <a:avLst/>
          </a:prstGeom>
          <a:solidFill>
            <a:srgbClr val="9AA5B1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550408" y="3346704"/>
            <a:ext cx="585216" cy="585216"/>
          </a:xfrm>
          <a:prstGeom prst="rect">
            <a:avLst/>
          </a:prstGeom>
          <a:solidFill>
            <a:srgbClr val="E276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alt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0.07</a:t>
            </a:r>
            <a:endParaRPr lang="ar-EG" altLang="en-US"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172200" y="3346704"/>
            <a:ext cx="585216" cy="585216"/>
          </a:xfrm>
          <a:prstGeom prst="rect">
            <a:avLst/>
          </a:prstGeom>
          <a:solidFill>
            <a:srgbClr val="9AA5B1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172200" y="3346704"/>
            <a:ext cx="585216" cy="585216"/>
          </a:xfrm>
          <a:prstGeom prst="rect">
            <a:avLst/>
          </a:prstGeom>
          <a:solidFill>
            <a:srgbClr val="E276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altLang="en-US" sz="1000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0.08</a:t>
            </a:r>
            <a:endParaRPr lang="ar-EG" altLang="en-US" sz="1000" dirty="0">
              <a:solidFill>
                <a:srgbClr val="D8DEE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645920" y="3968496"/>
            <a:ext cx="13258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Casualties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063240" y="3968496"/>
            <a:ext cx="585216" cy="585216"/>
          </a:xfrm>
          <a:prstGeom prst="rect">
            <a:avLst/>
          </a:prstGeom>
          <a:solidFill>
            <a:srgbClr val="E2762B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063240" y="3968496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0.07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85032" y="3968496"/>
            <a:ext cx="585216" cy="585216"/>
          </a:xfrm>
          <a:prstGeom prst="rect">
            <a:avLst/>
          </a:prstGeom>
          <a:solidFill>
            <a:srgbClr val="9AA5B1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85032" y="3968496"/>
            <a:ext cx="585216" cy="585216"/>
          </a:xfrm>
          <a:prstGeom prst="rect">
            <a:avLst/>
          </a:prstGeom>
          <a:solidFill>
            <a:srgbClr val="E276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altLang="en-US" sz="1000" b="1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0.16</a:t>
            </a:r>
            <a:endParaRPr lang="ar-EG" altLang="en-US" sz="1000" b="1" dirty="0">
              <a:solidFill>
                <a:srgbClr val="D8DEE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306824" y="3968496"/>
            <a:ext cx="585216" cy="585216"/>
          </a:xfrm>
          <a:prstGeom prst="rect">
            <a:avLst/>
          </a:prstGeom>
          <a:solidFill>
            <a:srgbClr val="9AA5B1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306824" y="3968496"/>
            <a:ext cx="585216" cy="585216"/>
          </a:xfrm>
          <a:prstGeom prst="rect">
            <a:avLst/>
          </a:prstGeom>
          <a:solidFill>
            <a:srgbClr val="E276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alt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0.14</a:t>
            </a:r>
            <a:endParaRPr lang="ar-EG" altLang="en-US"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928616" y="3968496"/>
            <a:ext cx="585216" cy="585216"/>
          </a:xfrm>
          <a:prstGeom prst="rect">
            <a:avLst/>
          </a:prstGeom>
          <a:solidFill>
            <a:srgbClr val="0EA394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928616" y="3968496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50408" y="3968496"/>
            <a:ext cx="585216" cy="585216"/>
          </a:xfrm>
          <a:prstGeom prst="rect">
            <a:avLst/>
          </a:prstGeom>
          <a:solidFill>
            <a:srgbClr val="9AA5B1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550408" y="3968496"/>
            <a:ext cx="585216" cy="585216"/>
          </a:xfrm>
          <a:prstGeom prst="rect">
            <a:avLst/>
          </a:prstGeom>
          <a:solidFill>
            <a:srgbClr val="E276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alt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0.22</a:t>
            </a:r>
            <a:endParaRPr lang="ar-EG" altLang="en-US"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172200" y="3968496"/>
            <a:ext cx="585216" cy="585216"/>
          </a:xfrm>
          <a:prstGeom prst="rect">
            <a:avLst/>
          </a:prstGeom>
          <a:solidFill>
            <a:srgbClr val="9AA5B1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172200" y="3968496"/>
            <a:ext cx="585216" cy="585216"/>
          </a:xfrm>
          <a:prstGeom prst="rect">
            <a:avLst/>
          </a:prstGeom>
          <a:solidFill>
            <a:srgbClr val="E276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altLang="en-US" sz="1000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0.14</a:t>
            </a:r>
            <a:endParaRPr lang="ar-EG" altLang="en-US" sz="1000" dirty="0">
              <a:solidFill>
                <a:srgbClr val="D8DEE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645920" y="4590288"/>
            <a:ext cx="13258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Veh. Count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063240" y="4590288"/>
            <a:ext cx="585216" cy="585216"/>
          </a:xfrm>
          <a:prstGeom prst="rect">
            <a:avLst/>
          </a:prstGeom>
          <a:solidFill>
            <a:srgbClr val="E2762B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063240" y="4590288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-0.07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685032" y="4590288"/>
            <a:ext cx="585216" cy="585216"/>
          </a:xfrm>
          <a:prstGeom prst="rect">
            <a:avLst/>
          </a:prstGeom>
          <a:solidFill>
            <a:srgbClr val="9AA5B1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685032" y="4590288"/>
            <a:ext cx="585216" cy="585216"/>
          </a:xfrm>
          <a:prstGeom prst="rect">
            <a:avLst/>
          </a:prstGeom>
          <a:solidFill>
            <a:srgbClr val="E276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alt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0.12</a:t>
            </a:r>
            <a:endParaRPr lang="ar-EG" altLang="en-US"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4306824" y="4590288"/>
            <a:ext cx="585216" cy="585216"/>
          </a:xfrm>
          <a:prstGeom prst="rect">
            <a:avLst/>
          </a:prstGeom>
          <a:solidFill>
            <a:srgbClr val="9AA5B1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306824" y="4590288"/>
            <a:ext cx="585216" cy="585216"/>
          </a:xfrm>
          <a:prstGeom prst="rect">
            <a:avLst/>
          </a:prstGeom>
          <a:solidFill>
            <a:srgbClr val="E276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alt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0.07</a:t>
            </a:r>
            <a:endParaRPr lang="ar-EG" altLang="en-US"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4928616" y="4590288"/>
            <a:ext cx="585216" cy="585216"/>
          </a:xfrm>
          <a:prstGeom prst="rect">
            <a:avLst/>
          </a:prstGeom>
          <a:solidFill>
            <a:srgbClr val="9AA5B1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928616" y="4590288"/>
            <a:ext cx="585216" cy="585216"/>
          </a:xfrm>
          <a:prstGeom prst="rect">
            <a:avLst/>
          </a:prstGeom>
          <a:solidFill>
            <a:srgbClr val="E276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alt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0.22</a:t>
            </a:r>
            <a:endParaRPr lang="ar-EG" altLang="en-US"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5550408" y="4590288"/>
            <a:ext cx="585216" cy="585216"/>
          </a:xfrm>
          <a:prstGeom prst="rect">
            <a:avLst/>
          </a:prstGeom>
          <a:solidFill>
            <a:srgbClr val="0EA394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550408" y="4590288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1.00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172200" y="4590288"/>
            <a:ext cx="585216" cy="585216"/>
          </a:xfrm>
          <a:prstGeom prst="rect">
            <a:avLst/>
          </a:prstGeom>
          <a:solidFill>
            <a:srgbClr val="0EA394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172200" y="4590288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0.54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645920" y="5212080"/>
            <a:ext cx="13258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Male Drivers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063240" y="5212080"/>
            <a:ext cx="585216" cy="585216"/>
          </a:xfrm>
          <a:prstGeom prst="rect">
            <a:avLst/>
          </a:prstGeom>
          <a:solidFill>
            <a:srgbClr val="E2762B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063240" y="521208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0.04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685032" y="5212080"/>
            <a:ext cx="585216" cy="585216"/>
          </a:xfrm>
          <a:prstGeom prst="rect">
            <a:avLst/>
          </a:prstGeom>
          <a:solidFill>
            <a:srgbClr val="9AA5B1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685032" y="5212080"/>
            <a:ext cx="585216" cy="585216"/>
          </a:xfrm>
          <a:prstGeom prst="rect">
            <a:avLst/>
          </a:prstGeom>
          <a:solidFill>
            <a:srgbClr val="E276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altLang="en-US" sz="1000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0.13</a:t>
            </a:r>
            <a:endParaRPr lang="ar-EG" altLang="en-US" sz="1000" dirty="0">
              <a:solidFill>
                <a:srgbClr val="D8DEE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4306824" y="5212080"/>
            <a:ext cx="585216" cy="585216"/>
          </a:xfrm>
          <a:prstGeom prst="rect">
            <a:avLst/>
          </a:prstGeom>
          <a:solidFill>
            <a:srgbClr val="9AA5B1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306824" y="5212080"/>
            <a:ext cx="585216" cy="585216"/>
          </a:xfrm>
          <a:prstGeom prst="rect">
            <a:avLst/>
          </a:prstGeom>
          <a:solidFill>
            <a:srgbClr val="E276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altLang="en-US" sz="1000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0.08</a:t>
            </a:r>
            <a:endParaRPr lang="ar-EG" altLang="en-US" sz="1000" dirty="0">
              <a:solidFill>
                <a:srgbClr val="D8DEE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4928616" y="5212080"/>
            <a:ext cx="585216" cy="585216"/>
          </a:xfrm>
          <a:prstGeom prst="rect">
            <a:avLst/>
          </a:prstGeom>
          <a:solidFill>
            <a:srgbClr val="9AA5B1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4928616" y="5212080"/>
            <a:ext cx="585216" cy="585216"/>
          </a:xfrm>
          <a:prstGeom prst="rect">
            <a:avLst/>
          </a:prstGeom>
          <a:solidFill>
            <a:srgbClr val="E276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EG" altLang="en-US" sz="1000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0.14</a:t>
            </a:r>
            <a:endParaRPr lang="ar-EG" altLang="en-US" sz="1000" dirty="0">
              <a:solidFill>
                <a:srgbClr val="D8DEE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5550408" y="5212080"/>
            <a:ext cx="585216" cy="585216"/>
          </a:xfrm>
          <a:prstGeom prst="rect">
            <a:avLst/>
          </a:prstGeom>
          <a:solidFill>
            <a:srgbClr val="0EA394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5550408" y="521208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E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0.54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172200" y="5212080"/>
            <a:ext cx="585216" cy="585216"/>
          </a:xfrm>
          <a:prstGeom prst="rect">
            <a:avLst/>
          </a:prstGeom>
          <a:solidFill>
            <a:srgbClr val="0EA394"/>
          </a:solidFill>
          <a:ln w="12700">
            <a:solidFill>
              <a:srgbClr val="182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172200" y="521208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1.00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063240" y="6153912"/>
            <a:ext cx="274320" cy="274320"/>
          </a:xfrm>
          <a:prstGeom prst="rect">
            <a:avLst/>
          </a:prstGeom>
          <a:solidFill>
            <a:srgbClr val="E2762B"/>
          </a:solidFill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3429000" y="613562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 correlation (|r| &lt; 0.5)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5806440" y="6153912"/>
            <a:ext cx="274320" cy="274320"/>
          </a:xfrm>
          <a:prstGeom prst="rect">
            <a:avLst/>
          </a:prstGeom>
          <a:solidFill>
            <a:srgbClr val="0EA394"/>
          </a:solidFill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6172200" y="613562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correlation (|r| ≥ 0.5)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9" y="5571974"/>
            <a:ext cx="1222415" cy="1222415"/>
          </a:xfrm>
          <a:prstGeom prst="rect">
            <a:avLst/>
          </a:prstGeom>
        </p:spPr>
      </p:pic>
      <p:pic>
        <p:nvPicPr>
          <p:cNvPr id="96" name="Picture 95" descr="4"/>
          <p:cNvPicPr>
            <a:picLocks noChangeAspect="1"/>
          </p:cNvPicPr>
          <p:nvPr/>
        </p:nvPicPr>
        <p:blipFill>
          <a:blip r:embed="rId2"/>
          <a:srcRect l="12940" t="17333" r="3530" b="10269"/>
          <a:stretch>
            <a:fillRect/>
          </a:stretch>
        </p:blipFill>
        <p:spPr>
          <a:xfrm>
            <a:off x="146050" y="2844165"/>
            <a:ext cx="2021840" cy="2190750"/>
          </a:xfrm>
          <a:prstGeom prst="round2DiagRect">
            <a:avLst>
              <a:gd name="adj1" fmla="val 16667"/>
              <a:gd name="adj2" fmla="val 0"/>
            </a:avLst>
          </a:prstGeom>
        </p:spPr>
      </p:pic>
      <p:pic>
        <p:nvPicPr>
          <p:cNvPr id="98" name="Picture 97" descr="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959610"/>
            <a:ext cx="3877945" cy="3837940"/>
          </a:xfrm>
          <a:prstGeom prst="round2Diag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4"/>
          <p:cNvSpPr/>
          <p:nvPr/>
        </p:nvSpPr>
        <p:spPr>
          <a:xfrm>
            <a:off x="2753551" y="2195544"/>
            <a:ext cx="2056537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5400000" algn="bl" rotWithShape="0">
              <a:srgbClr val="9AA3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200" y="372575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HYPOTHESIS TEST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Roads Carry More Risk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66775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Rural accidents are significantly more likely to be severe than urban ones.</a:t>
            </a:r>
            <a:endParaRPr lang="en-US" sz="1600" b="1" dirty="0"/>
          </a:p>
        </p:txBody>
      </p:sp>
      <p:sp>
        <p:nvSpPr>
          <p:cNvPr id="5" name="Shape 3"/>
          <p:cNvSpPr/>
          <p:nvPr/>
        </p:nvSpPr>
        <p:spPr>
          <a:xfrm>
            <a:off x="0" y="1810512"/>
            <a:ext cx="12188952" cy="10973"/>
          </a:xfrm>
          <a:prstGeom prst="rect">
            <a:avLst/>
          </a:prstGeom>
          <a:solidFill>
            <a:srgbClr val="E1E5E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056537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5400000" algn="bl" rotWithShape="0">
              <a:srgbClr val="9AA3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92785" y="2577465"/>
            <a:ext cx="1716405" cy="475615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24.9%</a:t>
            </a:r>
            <a:endParaRPr lang="en-US" sz="3400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16280" y="3227833"/>
            <a:ext cx="17853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KSI rate — Rural roads</a:t>
            </a:r>
            <a:endParaRPr lang="en-US" sz="1150" b="1" dirty="0"/>
          </a:p>
        </p:txBody>
      </p:sp>
      <p:sp>
        <p:nvSpPr>
          <p:cNvPr id="10" name="Text 8"/>
          <p:cNvSpPr/>
          <p:nvPr/>
        </p:nvSpPr>
        <p:spPr>
          <a:xfrm>
            <a:off x="2916555" y="2351405"/>
            <a:ext cx="1706880" cy="69469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18.0%</a:t>
            </a:r>
            <a:endParaRPr lang="en-US" sz="34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097888" y="32211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KSI rate — Urban roads</a:t>
            </a:r>
            <a:endParaRPr lang="en-US" sz="1150" b="1" dirty="0"/>
          </a:p>
        </p:txBody>
      </p:sp>
      <p:sp>
        <p:nvSpPr>
          <p:cNvPr id="12" name="Shape 10"/>
          <p:cNvSpPr/>
          <p:nvPr/>
        </p:nvSpPr>
        <p:spPr>
          <a:xfrm>
            <a:off x="4958462" y="2189988"/>
            <a:ext cx="2056537" cy="1737360"/>
          </a:xfrm>
          <a:prstGeom prst="roundRect">
            <a:avLst>
              <a:gd name="adj" fmla="val 4211"/>
            </a:avLst>
          </a:prstGeom>
          <a:solidFill>
            <a:srgbClr val="193EB0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5400000" algn="bl" rotWithShape="0">
              <a:srgbClr val="9AA3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54425" y="2393269"/>
            <a:ext cx="1908735" cy="659739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1.4x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92065" y="3221355"/>
            <a:ext cx="1842770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Rural vs urban KSI rate</a:t>
            </a:r>
            <a:endParaRPr lang="en-US" sz="1150" b="1" dirty="0"/>
          </a:p>
        </p:txBody>
      </p:sp>
      <p:sp>
        <p:nvSpPr>
          <p:cNvPr id="15" name="Shape 13"/>
          <p:cNvSpPr/>
          <p:nvPr/>
        </p:nvSpPr>
        <p:spPr>
          <a:xfrm>
            <a:off x="548640" y="4984115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6280" y="5184572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Reading the result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" y="5511343"/>
            <a:ext cx="97383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Accidents on rural roads are about 1.4x more likely to be KSI than on urban roads (24.9% vs 18.0%), consistent with higher rural speeds, longer emergency-response times, and less-controlled junctions.</a:t>
            </a:r>
            <a:endParaRPr lang="en-US" sz="1600" b="1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pic>
        <p:nvPicPr>
          <p:cNvPr id="9" name="Picture 8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4100" y="1989455"/>
            <a:ext cx="4244975" cy="2830195"/>
          </a:xfrm>
          <a:prstGeom prst="round2Diag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KSI Rate by Speed Limit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9576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KSI rate rises with speed limit up to 60 mph, then drops on 70 mph roads.</a:t>
            </a:r>
            <a:endParaRPr lang="en-US" sz="1450" b="1" dirty="0"/>
          </a:p>
        </p:txBody>
      </p:sp>
      <p:sp>
        <p:nvSpPr>
          <p:cNvPr id="5" name="Shape 3"/>
          <p:cNvSpPr/>
          <p:nvPr/>
        </p:nvSpPr>
        <p:spPr>
          <a:xfrm>
            <a:off x="0" y="1810512"/>
            <a:ext cx="12188952" cy="10973"/>
          </a:xfrm>
          <a:prstGeom prst="rect">
            <a:avLst/>
          </a:prstGeom>
          <a:solidFill>
            <a:srgbClr val="E1E5EC"/>
          </a:solidFill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103120"/>
          <a:ext cx="74066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2103120"/>
            <a:ext cx="3383280" cy="4206240"/>
          </a:xfrm>
          <a:prstGeom prst="roundRect">
            <a:avLst>
              <a:gd name="adj" fmla="val 2162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58200" y="233172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29.2%</a:t>
            </a:r>
            <a:endParaRPr lang="en-US" sz="3400" dirty="0">
              <a:solidFill>
                <a:srgbClr val="00206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8458200" y="297180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 KSI rate at</a:t>
            </a:r>
            <a:endParaRPr lang="en-US" sz="1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 mph roads</a:t>
            </a:r>
            <a:endParaRPr lang="en-US" sz="1400" b="1" dirty="0">
              <a:solidFill>
                <a:srgbClr val="002060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8458200" y="3703320"/>
            <a:ext cx="2926080" cy="9144"/>
          </a:xfrm>
          <a:prstGeom prst="rect">
            <a:avLst/>
          </a:prstGeom>
          <a:solidFill>
            <a:srgbClr val="334066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458200" y="3489385"/>
            <a:ext cx="292608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en-US" sz="1600" b="1" dirty="0">
                <a:solidFill>
                  <a:srgbClr val="002060"/>
                </a:solidFill>
              </a:rPr>
              <a:t>KSI rate drops on 70 mph roads despite the higher speed limit, suggesting that speed limit alone does not explain severity.</a:t>
            </a:r>
            <a:endParaRPr lang="en-US" altLang="en-US" sz="1600" b="1" dirty="0">
              <a:solidFill>
                <a:srgbClr val="002060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  <p:pic>
        <p:nvPicPr>
          <p:cNvPr id="12" name="Picture 11" descr="7"/>
          <p:cNvPicPr>
            <a:picLocks noChangeAspect="1"/>
          </p:cNvPicPr>
          <p:nvPr/>
        </p:nvPicPr>
        <p:blipFill>
          <a:blip r:embed="rId2"/>
          <a:srcRect l="42655" t="41767" r="32926" b="26721"/>
          <a:stretch>
            <a:fillRect/>
          </a:stretch>
        </p:blipFill>
        <p:spPr>
          <a:xfrm>
            <a:off x="8872220" y="129540"/>
            <a:ext cx="2512060" cy="1642110"/>
          </a:xfrm>
          <a:prstGeom prst="teardrop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KSI Rate by Hour of 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Late-night accidents are less frequent but far more likely to be severe.</a:t>
            </a:r>
            <a:endParaRPr lang="en-US" sz="1600" b="1" dirty="0"/>
          </a:p>
        </p:txBody>
      </p:sp>
      <p:sp>
        <p:nvSpPr>
          <p:cNvPr id="5" name="Shape 3"/>
          <p:cNvSpPr/>
          <p:nvPr/>
        </p:nvSpPr>
        <p:spPr>
          <a:xfrm>
            <a:off x="0" y="1810512"/>
            <a:ext cx="12188952" cy="10973"/>
          </a:xfrm>
          <a:prstGeom prst="rect">
            <a:avLst/>
          </a:prstGeom>
          <a:solidFill>
            <a:srgbClr val="E1E5EC"/>
          </a:solidFill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148840"/>
          <a:ext cx="6858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2148840"/>
            <a:ext cx="3977640" cy="4114800"/>
          </a:xfrm>
          <a:prstGeom prst="roundRect">
            <a:avLst>
              <a:gd name="adj" fmla="val 1839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73390" y="2593340"/>
            <a:ext cx="3201035" cy="58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night effect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909560" y="3150935"/>
            <a:ext cx="3520440" cy="283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KSI rate rises from a low of ~15% around 8 AM (rush hour) to a peak of ~29% at 2-4 AM.</a:t>
            </a:r>
            <a:endParaRPr lang="en-US" sz="1600" b="1" dirty="0"/>
          </a:p>
          <a:p>
            <a:pPr marL="0" indent="0">
              <a:lnSpc>
                <a:spcPct val="130000"/>
              </a:lnSpc>
              <a:buNone/>
            </a:pPr>
            <a:endParaRPr lang="en-US" sz="16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Fewer accidents happen at night, but darkness, fatigue, and higher speeds make the ones that do happen more severe.</a:t>
            </a:r>
            <a:endParaRPr lang="en-US" sz="1600" b="1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sp>
        <p:nvSpPr>
          <p:cNvPr id="15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</a:t>
            </a:r>
            <a:endParaRPr lang="en-US" sz="3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Predictors of Accident Severity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 count, road authority, and area type rank above raw driver/vehicle specs.</a:t>
            </a:r>
            <a:endParaRPr lang="en-US" sz="1450" b="1" dirty="0"/>
          </a:p>
        </p:txBody>
      </p:sp>
      <p:sp>
        <p:nvSpPr>
          <p:cNvPr id="5" name="Shape 3"/>
          <p:cNvSpPr/>
          <p:nvPr/>
        </p:nvSpPr>
        <p:spPr>
          <a:xfrm>
            <a:off x="0" y="1810512"/>
            <a:ext cx="12188952" cy="10973"/>
          </a:xfrm>
          <a:prstGeom prst="rect">
            <a:avLst/>
          </a:prstGeom>
          <a:solidFill>
            <a:srgbClr val="E1E5EC"/>
          </a:solidFill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2103120"/>
          <a:ext cx="1124712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 Road Accidents — Severity (KSI) Prediction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</a:t>
            </a:r>
            <a:endParaRPr lang="en-US" sz="3200" dirty="0">
              <a:solidFill>
                <a:srgbClr val="002060"/>
              </a:solidFill>
            </a:endParaRPr>
          </a:p>
        </p:txBody>
      </p:sp>
      <p:pic>
        <p:nvPicPr>
          <p:cNvPr id="2" name="Picture 1" descr="1"/>
          <p:cNvPicPr>
            <a:picLocks noChangeAspect="1"/>
          </p:cNvPicPr>
          <p:nvPr/>
        </p:nvPicPr>
        <p:blipFill>
          <a:blip r:embed="rId2"/>
          <a:srcRect l="23333" t="13783" b="12161"/>
          <a:stretch>
            <a:fillRect/>
          </a:stretch>
        </p:blipFill>
        <p:spPr>
          <a:xfrm>
            <a:off x="6638290" y="1931035"/>
            <a:ext cx="5550535" cy="2753995"/>
          </a:xfrm>
          <a:prstGeom prst="round2Diag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KSI Rate by Lighting Conditions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Unlit darkness carries the highest severity risk of any lighting condition.</a:t>
            </a:r>
            <a:endParaRPr lang="en-US" b="1" dirty="0"/>
          </a:p>
        </p:txBody>
      </p:sp>
      <p:sp>
        <p:nvSpPr>
          <p:cNvPr id="5" name="Shape 3"/>
          <p:cNvSpPr/>
          <p:nvPr/>
        </p:nvSpPr>
        <p:spPr>
          <a:xfrm>
            <a:off x="0" y="1810512"/>
            <a:ext cx="12188952" cy="10973"/>
          </a:xfrm>
          <a:prstGeom prst="rect">
            <a:avLst/>
          </a:prstGeom>
          <a:solidFill>
            <a:srgbClr val="E1E5EC"/>
          </a:solidFill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148840"/>
          <a:ext cx="6583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710609" y="5310835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19.3%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645920" y="4782312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Daylight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07989" y="5173675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21.2%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3607989" y="4318614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 darkness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40680" y="478231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31.0%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5440680" y="2971676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Unlit darkness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06640" y="2148840"/>
            <a:ext cx="4206240" cy="4114800"/>
          </a:xfrm>
          <a:prstGeom prst="roundRect">
            <a:avLst>
              <a:gd name="adj" fmla="val 1778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098276" y="247510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 risk: Unlit darkness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7635240" y="3200400"/>
            <a:ext cx="370332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KSI rate climbs steadily as lighting worsens: 19.3% in daylight, 21.2% under lit darkness, and 31.0% in unlit darkness — the single highest KSI rate of any category studied.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7635240" y="5029200"/>
            <a:ext cx="3703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Recommendation: prioritize street-lighting upgrades on unlit rural and semi-rural roads.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  <p:sp>
        <p:nvSpPr>
          <p:cNvPr id="2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</a:t>
            </a:r>
            <a:endParaRPr lang="en-US" sz="3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Weather &amp; Severity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Fog and mist show the highest KSI rate; heavy weather adds risk beyond fine conditions.</a:t>
            </a:r>
            <a:endParaRPr lang="en-US" b="1" dirty="0"/>
          </a:p>
        </p:txBody>
      </p:sp>
      <p:sp>
        <p:nvSpPr>
          <p:cNvPr id="5" name="Shape 3"/>
          <p:cNvSpPr/>
          <p:nvPr/>
        </p:nvSpPr>
        <p:spPr>
          <a:xfrm>
            <a:off x="0" y="1810512"/>
            <a:ext cx="12188952" cy="10973"/>
          </a:xfrm>
          <a:prstGeom prst="rect">
            <a:avLst/>
          </a:prstGeom>
          <a:solidFill>
            <a:srgbClr val="E1E5EC"/>
          </a:solidFill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148840"/>
          <a:ext cx="110642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</a:t>
            </a:r>
            <a:endParaRPr lang="en-US" sz="3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Urban vs. Rural Accidents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accidents happen in urban areas, but rural accidents are more often severe.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0" y="1810512"/>
            <a:ext cx="12188952" cy="10973"/>
          </a:xfrm>
          <a:prstGeom prst="rect">
            <a:avLst/>
          </a:prstGeom>
          <a:solidFill>
            <a:srgbClr val="E1E5EC"/>
          </a:solidFill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148840"/>
          <a:ext cx="7680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03920" y="2148840"/>
            <a:ext cx="3108960" cy="1920240"/>
          </a:xfrm>
          <a:prstGeom prst="roundRect">
            <a:avLst>
              <a:gd name="adj" fmla="val 3810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448476" y="1875472"/>
            <a:ext cx="2834640" cy="135331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67%</a:t>
            </a:r>
            <a:endParaRPr lang="en-US" sz="4200" dirty="0">
              <a:solidFill>
                <a:srgbClr val="00206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8759438" y="3280831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accidents occur in urban areas</a:t>
            </a:r>
            <a:endParaRPr lang="en-US" sz="2000" b="1" dirty="0"/>
          </a:p>
        </p:txBody>
      </p:sp>
      <p:sp>
        <p:nvSpPr>
          <p:cNvPr id="10" name="Shape 7"/>
          <p:cNvSpPr/>
          <p:nvPr/>
        </p:nvSpPr>
        <p:spPr>
          <a:xfrm>
            <a:off x="8503920" y="425196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18233F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002789" y="443484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it matters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732520" y="4754880"/>
            <a:ext cx="26517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Urban roads see more accidents overall, but rural roads have a meaningfully higher KSI rate (24.9% vs 18.0%) — safety investment should not follow accident volume alone.</a:t>
            </a:r>
            <a:endParaRPr lang="en-US" sz="1200" b="1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  <p:sp>
        <p:nvSpPr>
          <p:cNvPr id="16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</a:t>
            </a:r>
            <a:endParaRPr lang="en-US" sz="3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196" y="2743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A GLANCE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Summary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2148840"/>
          </a:xfrm>
          <a:prstGeom prst="roundRect">
            <a:avLst>
              <a:gd name="adj" fmla="val 2979"/>
            </a:avLst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Urban vs. Rural Split</a:t>
            </a:r>
            <a:endParaRPr lang="en-US" sz="1250" dirty="0">
              <a:solidFill>
                <a:srgbClr val="002060"/>
              </a:solidFill>
            </a:endParaRPr>
          </a:p>
        </p:txBody>
      </p:sp>
      <p:graphicFrame>
        <p:nvGraphicFramePr>
          <p:cNvPr id="6" name="Chart 0"/>
          <p:cNvGraphicFramePr/>
          <p:nvPr/>
        </p:nvGraphicFramePr>
        <p:xfrm>
          <a:off x="594360" y="1801368"/>
          <a:ext cx="51663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417320"/>
            <a:ext cx="5440680" cy="2148840"/>
          </a:xfrm>
          <a:prstGeom prst="roundRect">
            <a:avLst>
              <a:gd name="adj" fmla="val 2979"/>
            </a:avLst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46520" y="150876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KSI Rate by Speed Limit</a:t>
            </a:r>
            <a:endParaRPr lang="en-US" sz="1250" dirty="0">
              <a:solidFill>
                <a:srgbClr val="002060"/>
              </a:solidFill>
            </a:endParaRPr>
          </a:p>
        </p:txBody>
      </p:sp>
      <p:graphicFrame>
        <p:nvGraphicFramePr>
          <p:cNvPr id="9" name="Chart 1"/>
          <p:cNvGraphicFramePr/>
          <p:nvPr/>
        </p:nvGraphicFramePr>
        <p:xfrm>
          <a:off x="6400800" y="1801368"/>
          <a:ext cx="51663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3794760"/>
            <a:ext cx="5440680" cy="2148840"/>
          </a:xfrm>
          <a:prstGeom prst="roundRect">
            <a:avLst>
              <a:gd name="adj" fmla="val 2979"/>
            </a:avLst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40080" y="388620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Severity Predictors</a:t>
            </a:r>
            <a:endParaRPr lang="en-US" sz="1250" dirty="0">
              <a:solidFill>
                <a:srgbClr val="002060"/>
              </a:solidFill>
            </a:endParaRPr>
          </a:p>
        </p:txBody>
      </p:sp>
      <p:graphicFrame>
        <p:nvGraphicFramePr>
          <p:cNvPr id="12" name="Chart 2"/>
          <p:cNvGraphicFramePr/>
          <p:nvPr/>
        </p:nvGraphicFramePr>
        <p:xfrm>
          <a:off x="594360" y="4178808"/>
          <a:ext cx="51663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8"/>
          <p:cNvSpPr/>
          <p:nvPr/>
        </p:nvSpPr>
        <p:spPr>
          <a:xfrm>
            <a:off x="6263640" y="3794760"/>
            <a:ext cx="5440680" cy="2148840"/>
          </a:xfrm>
          <a:prstGeom prst="roundRect">
            <a:avLst>
              <a:gd name="adj" fmla="val 2979"/>
            </a:avLst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446520" y="388620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KSI Rate by Hour</a:t>
            </a:r>
            <a:endParaRPr lang="en-US" sz="1250" dirty="0">
              <a:solidFill>
                <a:srgbClr val="002060"/>
              </a:solidFill>
            </a:endParaRPr>
          </a:p>
        </p:txBody>
      </p:sp>
      <p:graphicFrame>
        <p:nvGraphicFramePr>
          <p:cNvPr id="15" name="Chart 3"/>
          <p:cNvGraphicFramePr/>
          <p:nvPr/>
        </p:nvGraphicFramePr>
        <p:xfrm>
          <a:off x="6400800" y="4178808"/>
          <a:ext cx="51663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1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28600" y="190500"/>
            <a:ext cx="6979285" cy="1113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 b="1"/>
              <a:t>Model &amp; Evaluation</a:t>
            </a:r>
            <a:r>
              <a:rPr lang="en-US" altLang="en-US" sz="2000" b="1"/>
              <a:t> </a:t>
            </a:r>
            <a:endParaRPr lang="en-US" altLang="en-US" sz="2000" b="1"/>
          </a:p>
          <a:p>
            <a:endParaRPr lang="en-US" altLang="en-US" sz="300" b="1"/>
          </a:p>
          <a:p>
            <a:r>
              <a:rPr lang="en-US" altLang="en-US" sz="2000" b="1"/>
              <a:t>Comparing models and validating performance</a:t>
            </a:r>
            <a:endParaRPr lang="en-US" altLang="en-US" sz="2000" b="1"/>
          </a:p>
        </p:txBody>
      </p:sp>
      <p:sp>
        <p:nvSpPr>
          <p:cNvPr id="5" name="Shape 3"/>
          <p:cNvSpPr/>
          <p:nvPr/>
        </p:nvSpPr>
        <p:spPr>
          <a:xfrm>
            <a:off x="3175" y="1282827"/>
            <a:ext cx="12188952" cy="10973"/>
          </a:xfrm>
          <a:prstGeom prst="rect">
            <a:avLst/>
          </a:prstGeom>
          <a:solidFill>
            <a:srgbClr val="E1E5EC"/>
          </a:solid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Table 2"/>
          <p:cNvGraphicFramePr/>
          <p:nvPr/>
        </p:nvGraphicFramePr>
        <p:xfrm>
          <a:off x="228600" y="1668780"/>
          <a:ext cx="11419205" cy="483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315"/>
                <a:gridCol w="1631315"/>
                <a:gridCol w="1631315"/>
                <a:gridCol w="1631315"/>
                <a:gridCol w="1631315"/>
                <a:gridCol w="1631315"/>
                <a:gridCol w="1631315"/>
              </a:tblGrid>
              <a:tr h="5689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Model</a:t>
                      </a:r>
                      <a:endParaRPr lang="en-US"/>
                    </a:p>
                  </a:txBody>
                  <a:tcPr anchor="ctr" anchorCtr="0">
                    <a:solidFill>
                      <a:srgbClr val="193EB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Accuracy</a:t>
                      </a:r>
                      <a:endParaRPr lang="en-US"/>
                    </a:p>
                  </a:txBody>
                  <a:tcPr anchor="ctr" anchorCtr="0">
                    <a:solidFill>
                      <a:srgbClr val="193EB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Percision</a:t>
                      </a:r>
                      <a:endParaRPr lang="en-US"/>
                    </a:p>
                  </a:txBody>
                  <a:tcPr anchor="ctr" anchorCtr="0">
                    <a:solidFill>
                      <a:srgbClr val="193EB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Recall</a:t>
                      </a:r>
                      <a:endParaRPr lang="en-US"/>
                    </a:p>
                  </a:txBody>
                  <a:tcPr anchor="ctr" anchorCtr="0">
                    <a:solidFill>
                      <a:srgbClr val="193EB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F1</a:t>
                      </a:r>
                      <a:endParaRPr lang="en-US"/>
                    </a:p>
                  </a:txBody>
                  <a:tcPr anchor="ctr" anchorCtr="0">
                    <a:solidFill>
                      <a:srgbClr val="193EB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Roc AUC</a:t>
                      </a:r>
                      <a:endParaRPr lang="en-US"/>
                    </a:p>
                  </a:txBody>
                  <a:tcPr anchor="ctr" anchorCtr="0">
                    <a:solidFill>
                      <a:srgbClr val="193EB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PR AUC</a:t>
                      </a:r>
                      <a:endParaRPr lang="en-US"/>
                    </a:p>
                  </a:txBody>
                  <a:tcPr anchor="ctr" anchorCtr="0">
                    <a:solidFill>
                      <a:srgbClr val="193EB0"/>
                    </a:solidFill>
                  </a:tcPr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XGBoost</a:t>
                      </a:r>
                      <a:endParaRPr lang="en-US"/>
                    </a:p>
                    <a:p>
                      <a:pPr algn="ctr">
                        <a:buNone/>
                      </a:pPr>
                      <a:r>
                        <a:rPr lang="en-US"/>
                        <a:t>(Tuned)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0.643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0.3088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0.615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0.4112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0.686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0.3538</a:t>
                      </a:r>
                      <a:endParaRPr lang="en-US"/>
                    </a:p>
                  </a:txBody>
                  <a:tcPr anchor="ctr" anchorCtr="0"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LightGBM</a:t>
                      </a:r>
                      <a:endParaRPr lang="en-US"/>
                    </a:p>
                    <a:p>
                      <a:pPr algn="ctr">
                        <a:buNone/>
                      </a:pPr>
                      <a:r>
                        <a:rPr lang="en-US"/>
                        <a:t>(Tuned)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0.641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0.3067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0.6124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0.4087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0.685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0.3528</a:t>
                      </a:r>
                      <a:endParaRPr lang="en-US"/>
                    </a:p>
                  </a:txBody>
                  <a:tcPr anchor="ctr" anchorCtr="0"/>
                </a:tc>
              </a:tr>
              <a:tr h="5689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LightGBM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0.6427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0.3081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0.6140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0.4103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0.6839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0.3512</a:t>
                      </a:r>
                      <a:endParaRPr lang="en-US"/>
                    </a:p>
                  </a:txBody>
                  <a:tcPr anchor="ctr" anchorCtr="0"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Random</a:t>
                      </a:r>
                      <a:endParaRPr lang="en-US"/>
                    </a:p>
                    <a:p>
                      <a:pPr algn="ctr">
                        <a:buNone/>
                      </a:pPr>
                      <a:r>
                        <a:rPr lang="en-US"/>
                        <a:t>Forest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0.7217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0.3441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0.4132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0.3755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0.6715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0.3355</a:t>
                      </a:r>
                      <a:endParaRPr lang="en-US"/>
                    </a:p>
                  </a:txBody>
                  <a:tcPr anchor="ctr" anchorCtr="0"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Logistitic</a:t>
                      </a:r>
                      <a:endParaRPr lang="en-US"/>
                    </a:p>
                    <a:p>
                      <a:pPr algn="ctr">
                        <a:buNone/>
                      </a:pPr>
                      <a:r>
                        <a:rPr lang="en-US"/>
                        <a:t>Regression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0.6038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0.2836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0.6267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0.3905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0.6591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0.3198</a:t>
                      </a:r>
                      <a:endParaRPr lang="en-US"/>
                    </a:p>
                  </a:txBody>
                  <a:tcPr anchor="ctr" anchorCtr="0"/>
                </a:tc>
              </a:tr>
              <a:tr h="5689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XGBoost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0.6357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0.2902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0.5528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0.3806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0.6473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0.3281</a:t>
                      </a:r>
                      <a:endParaRPr lang="en-US"/>
                    </a:p>
                  </a:txBody>
                  <a:tcPr anchor="ctr" anchorCtr="0"/>
                </a:tc>
              </a:tr>
              <a:tr h="5689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Decision Tree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0.6281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0.2919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0.5866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0.3898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0.6459</a:t>
                      </a:r>
                      <a:endParaRPr 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0.3021</a:t>
                      </a:r>
                      <a:endParaRPr 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SYNTHESIS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Findings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Seven takeaways from the analysis, ranked by relevance to road safety.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0" y="1810512"/>
            <a:ext cx="12188952" cy="10973"/>
          </a:xfrm>
          <a:prstGeom prst="rect">
            <a:avLst/>
          </a:prstGeom>
          <a:solidFill>
            <a:srgbClr val="E1E5E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40680" cy="868680"/>
          </a:xfrm>
          <a:prstGeom prst="roundRect">
            <a:avLst>
              <a:gd name="adj" fmla="val 7368"/>
            </a:avLst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2631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8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 limit and road type are the strongest behavioral drivers of severity.</a:t>
            </a:r>
            <a:endParaRPr lang="en-US" b="1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440680" cy="868680"/>
          </a:xfrm>
          <a:prstGeom prst="roundRect">
            <a:avLst>
              <a:gd name="adj" fmla="val 7368"/>
            </a:avLst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2631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2057400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8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KSI rate peaks at night (2-4 AM) despite lower accident volume.</a:t>
            </a:r>
            <a:endParaRPr lang="en-US" b="1" dirty="0"/>
          </a:p>
        </p:txBody>
      </p:sp>
      <p:sp>
        <p:nvSpPr>
          <p:cNvPr id="14" name="Shape 12"/>
          <p:cNvSpPr/>
          <p:nvPr/>
        </p:nvSpPr>
        <p:spPr>
          <a:xfrm>
            <a:off x="548640" y="3044952"/>
            <a:ext cx="5440680" cy="868680"/>
          </a:xfrm>
          <a:prstGeom prst="roundRect">
            <a:avLst>
              <a:gd name="adj" fmla="val 7368"/>
            </a:avLst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0" y="3044952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8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Rural roads have a significantly higher KSI rate than urban roads (24.9% vs 18.0%).</a:t>
            </a:r>
            <a:endParaRPr lang="en-US" b="1" dirty="0"/>
          </a:p>
        </p:txBody>
      </p:sp>
      <p:sp>
        <p:nvSpPr>
          <p:cNvPr id="18" name="Shape 16"/>
          <p:cNvSpPr/>
          <p:nvPr/>
        </p:nvSpPr>
        <p:spPr>
          <a:xfrm>
            <a:off x="6172200" y="3044952"/>
            <a:ext cx="5440680" cy="868680"/>
          </a:xfrm>
          <a:prstGeom prst="roundRect">
            <a:avLst>
              <a:gd name="adj" fmla="val 7368"/>
            </a:avLst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32506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95160" y="3044952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8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Unlit darkness carries the highest severity risk of any lighting condition (31.0%).</a:t>
            </a:r>
            <a:endParaRPr lang="en-US" b="1" dirty="0"/>
          </a:p>
        </p:txBody>
      </p:sp>
      <p:sp>
        <p:nvSpPr>
          <p:cNvPr id="22" name="Shape 20"/>
          <p:cNvSpPr/>
          <p:nvPr/>
        </p:nvSpPr>
        <p:spPr>
          <a:xfrm>
            <a:off x="548640" y="4032504"/>
            <a:ext cx="5440680" cy="1051560"/>
          </a:xfrm>
          <a:prstGeom prst="roundRect">
            <a:avLst>
              <a:gd name="adj" fmla="val 6087"/>
            </a:avLst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71600" y="4032504"/>
            <a:ext cx="443484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8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correlations with is_KSI are all weak — severity depends on non-linear, categorical patterns.</a:t>
            </a:r>
            <a:endParaRPr lang="en-US" b="1" dirty="0"/>
          </a:p>
        </p:txBody>
      </p:sp>
      <p:sp>
        <p:nvSpPr>
          <p:cNvPr id="26" name="Shape 24"/>
          <p:cNvSpPr/>
          <p:nvPr/>
        </p:nvSpPr>
        <p:spPr>
          <a:xfrm>
            <a:off x="6172200" y="4032504"/>
            <a:ext cx="5440680" cy="1051560"/>
          </a:xfrm>
          <a:prstGeom prst="roundRect">
            <a:avLst>
              <a:gd name="adj" fmla="val 6087"/>
            </a:avLst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0" y="43296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4032504"/>
            <a:ext cx="443484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8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Tree-based models (XGBoost, LightGBM) outperform Logistic Regression on this data.</a:t>
            </a:r>
            <a:endParaRPr lang="en-US" b="1" dirty="0"/>
          </a:p>
        </p:txBody>
      </p:sp>
      <p:sp>
        <p:nvSpPr>
          <p:cNvPr id="30" name="Shape 28"/>
          <p:cNvSpPr/>
          <p:nvPr/>
        </p:nvSpPr>
        <p:spPr>
          <a:xfrm>
            <a:off x="548640" y="5202936"/>
            <a:ext cx="5440680" cy="868680"/>
          </a:xfrm>
          <a:prstGeom prst="roundRect">
            <a:avLst>
              <a:gd name="adj" fmla="val 7368"/>
            </a:avLst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" y="54086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71600" y="5202936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18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Tuned XGBoost is the final model (ROC-AUC 0.686), threshold lowered for ~75% recall.</a:t>
            </a:r>
            <a:endParaRPr lang="en-US" b="1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056" y="384048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INSIGHT INTO ACTION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moves to translate the analysis into road-safety strategy.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0" y="1810512"/>
            <a:ext cx="12188952" cy="10973"/>
          </a:xfrm>
          <a:prstGeom prst="rect">
            <a:avLst/>
          </a:prstGeom>
          <a:solidFill>
            <a:srgbClr val="E1E5E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40680" cy="1965960"/>
          </a:xfrm>
          <a:prstGeom prst="roundRect">
            <a:avLst>
              <a:gd name="adj" fmla="val 3721"/>
            </a:avLst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3816" y="241401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</a:t>
            </a:r>
            <a:endParaRPr lang="en-US" sz="1610" dirty="0"/>
          </a:p>
        </p:txBody>
      </p:sp>
      <p:sp>
        <p:nvSpPr>
          <p:cNvPr id="9" name="Text 7"/>
          <p:cNvSpPr/>
          <p:nvPr/>
        </p:nvSpPr>
        <p:spPr>
          <a:xfrm>
            <a:off x="813816" y="2371993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high-risk speed zones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2935224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Increase enforcement and review limits where KSI rate is highest (60 mph roads).</a:t>
            </a:r>
            <a:endParaRPr lang="en-US" sz="2000" b="1" dirty="0"/>
          </a:p>
        </p:txBody>
      </p:sp>
      <p:sp>
        <p:nvSpPr>
          <p:cNvPr id="11" name="Shape 9"/>
          <p:cNvSpPr/>
          <p:nvPr/>
        </p:nvSpPr>
        <p:spPr>
          <a:xfrm>
            <a:off x="6172200" y="2148840"/>
            <a:ext cx="5440680" cy="1965960"/>
          </a:xfrm>
          <a:prstGeom prst="roundRect">
            <a:avLst>
              <a:gd name="adj" fmla="val 3721"/>
            </a:avLst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2313686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Prioritize rural road safety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46520" y="2889504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 safety audits, signage, and emergency-resource allocation for rural roads.</a:t>
            </a:r>
            <a:endParaRPr lang="en-US" sz="2000" b="1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5440680" cy="1965960"/>
          </a:xfrm>
          <a:prstGeom prst="roundRect">
            <a:avLst>
              <a:gd name="adj" fmla="val 3721"/>
            </a:avLst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3816" y="456285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2AM</a:t>
            </a:r>
            <a:endParaRPr lang="en-US" sz="1610" dirty="0"/>
          </a:p>
        </p:txBody>
      </p:sp>
      <p:sp>
        <p:nvSpPr>
          <p:cNvPr id="19" name="Text 17"/>
          <p:cNvSpPr/>
          <p:nvPr/>
        </p:nvSpPr>
        <p:spPr>
          <a:xfrm>
            <a:off x="822960" y="443591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Increase night patrols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4985523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lighting and patrols during the 12 AM–4 AM peak-risk window.</a:t>
            </a:r>
            <a:endParaRPr lang="en-US" sz="2000" b="1" dirty="0"/>
          </a:p>
        </p:txBody>
      </p:sp>
      <p:sp>
        <p:nvSpPr>
          <p:cNvPr id="21" name="Shape 19"/>
          <p:cNvSpPr/>
          <p:nvPr/>
        </p:nvSpPr>
        <p:spPr>
          <a:xfrm>
            <a:off x="6172200" y="4297680"/>
            <a:ext cx="5440680" cy="1965960"/>
          </a:xfrm>
          <a:prstGeom prst="roundRect">
            <a:avLst>
              <a:gd name="adj" fmla="val 3721"/>
            </a:avLst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37376" y="4398264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the model as a decision tool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46520" y="4985523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 locations by predicted KSI risk to prioritize limited safety budgets.</a:t>
            </a:r>
            <a:endParaRPr lang="en-US" sz="2000" b="1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LOOKING AHEAD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23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Limitations &amp; Next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 are associations from one year of data, not proven causation.</a:t>
            </a:r>
            <a:endParaRPr lang="en-US" b="1" dirty="0"/>
          </a:p>
        </p:txBody>
      </p:sp>
      <p:sp>
        <p:nvSpPr>
          <p:cNvPr id="5" name="Shape 3"/>
          <p:cNvSpPr/>
          <p:nvPr/>
        </p:nvSpPr>
        <p:spPr>
          <a:xfrm>
            <a:off x="-4501515" y="1810512"/>
            <a:ext cx="12188952" cy="10973"/>
          </a:xfrm>
          <a:prstGeom prst="rect">
            <a:avLst/>
          </a:prstGeom>
          <a:solidFill>
            <a:srgbClr val="E1E5E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128081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120640" cy="1234440"/>
          </a:xfrm>
          <a:prstGeom prst="roundRect">
            <a:avLst>
              <a:gd name="adj" fmla="val 6087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466344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8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on a single year (2018) of UK data — revalidate before applying elsewhere.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17220" y="4165092"/>
            <a:ext cx="5120640" cy="1262907"/>
          </a:xfrm>
          <a:prstGeom prst="roundRect">
            <a:avLst>
              <a:gd name="adj" fmla="val 6087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5820" y="4165092"/>
            <a:ext cx="466344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8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 is low (~28-31%) at the chosen threshold — many false alarms alongside true detections.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35040" y="21488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STEPS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35040" y="2514600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18233F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45936" y="2496312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Pilot any intervention (e.g. a speed-limit change) before full rollout.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3538728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18233F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43990" y="347472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Revalidate the model against more recent years and other regions.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35040" y="4562856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18233F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45936" y="48051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90" dirty="0"/>
          </a:p>
        </p:txBody>
      </p:sp>
      <p:sp>
        <p:nvSpPr>
          <p:cNvPr id="23" name="Text 21"/>
          <p:cNvSpPr/>
          <p:nvPr/>
        </p:nvSpPr>
        <p:spPr>
          <a:xfrm>
            <a:off x="6343990" y="4562856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the model alongside expert judgment, not as a sole decision-maker.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900" dirty="0"/>
          </a:p>
        </p:txBody>
      </p:sp>
      <p:pic>
        <p:nvPicPr>
          <p:cNvPr id="96" name="Picture 95" descr="4"/>
          <p:cNvPicPr>
            <a:picLocks noChangeAspect="1"/>
          </p:cNvPicPr>
          <p:nvPr/>
        </p:nvPicPr>
        <p:blipFill>
          <a:blip r:embed="rId1"/>
          <a:srcRect l="12940" t="17333" r="3530" b="10269"/>
          <a:stretch>
            <a:fillRect/>
          </a:stretch>
        </p:blipFill>
        <p:spPr>
          <a:xfrm>
            <a:off x="8872220" y="131445"/>
            <a:ext cx="2283460" cy="2035810"/>
          </a:xfrm>
          <a:prstGeom prst="round2DiagRect">
            <a:avLst>
              <a:gd name="adj1" fmla="val 16667"/>
              <a:gd name="adj2" fmla="val 0"/>
            </a:avLst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3301" y="2560320"/>
            <a:ext cx="1218895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3337560"/>
            <a:ext cx="121889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 &amp; Discussion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545836" y="3840480"/>
            <a:ext cx="1097280" cy="9144"/>
          </a:xfrm>
          <a:prstGeom prst="rect">
            <a:avLst/>
          </a:prstGeom>
          <a:solidFill>
            <a:srgbClr val="3A4A78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4434840"/>
            <a:ext cx="12188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Road Safety  ·  Data Analyst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· Machine Learning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0741" y="4905756"/>
            <a:ext cx="1218895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7C88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 Road Accidents — Severity (KSI) Prediction  |  September 2026</a:t>
            </a:r>
            <a:endParaRPr lang="en-US" sz="14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0</TotalTime>
  <Words>7608</Words>
  <Application>WPS Presentation</Application>
  <PresentationFormat>Widescreen</PresentationFormat>
  <Paragraphs>635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8" baseType="lpstr">
      <vt:lpstr>Arial</vt:lpstr>
      <vt:lpstr>SimSun</vt:lpstr>
      <vt:lpstr>Wingdings</vt:lpstr>
      <vt:lpstr>Neue Haas Grotesk Text Pro</vt:lpstr>
      <vt:lpstr>Arimo</vt:lpstr>
      <vt:lpstr>Segoe Print</vt:lpstr>
      <vt:lpstr>Arial MT Pro</vt:lpstr>
      <vt:lpstr>Calibri</vt:lpstr>
      <vt:lpstr>Calibri</vt:lpstr>
      <vt:lpstr>Calibri</vt:lpstr>
      <vt:lpstr>Calibri</vt:lpstr>
      <vt:lpstr>Montserrat</vt:lpstr>
      <vt:lpstr>Montserrat</vt:lpstr>
      <vt:lpstr>Montserrat</vt:lpstr>
      <vt:lpstr>Microsoft YaHei UI</vt:lpstr>
      <vt:lpstr>Microsoft YaHei</vt:lpstr>
      <vt:lpstr>Arial Unicode MS</vt:lpstr>
      <vt:lpstr>Aptos</vt:lpstr>
      <vt:lpstr>Segoe UI</vt:lpstr>
      <vt:lpstr>Arial</vt:lpstr>
      <vt:lpstr>Neue Haas Grotesk Text Pro</vt:lpstr>
      <vt:lpstr>MingLiU-ExtB</vt:lpstr>
      <vt:lpstr>Aldhabi</vt:lpstr>
      <vt:lpstr>Andalus</vt:lpstr>
      <vt:lpstr>Arabic Typesetting</vt:lpstr>
      <vt:lpstr>Dune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Moataz Sameh</cp:lastModifiedBy>
  <cp:revision>9</cp:revision>
  <dcterms:created xsi:type="dcterms:W3CDTF">2026-08-12T23:10:00Z</dcterms:created>
  <dcterms:modified xsi:type="dcterms:W3CDTF">2026-09-03T23:04:36Z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56D96045F9B148DAA141788AA15CECF3_12</vt:lpwstr>
  </property>
</Properties>
</file>